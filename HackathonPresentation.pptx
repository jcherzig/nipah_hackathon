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3" r:id="rId4"/>
    <p:sldId id="257" r:id="rId5"/>
    <p:sldId id="267" r:id="rId6"/>
    <p:sldId id="266" r:id="rId7"/>
    <p:sldId id="261" r:id="rId8"/>
    <p:sldId id="258" r:id="rId9"/>
    <p:sldId id="259" r:id="rId10"/>
    <p:sldId id="268" r:id="rId11"/>
    <p:sldId id="269" r:id="rId12"/>
    <p:sldId id="264" r:id="rId13"/>
    <p:sldId id="262" r:id="rId14"/>
    <p:sldId id="26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D8C8C77-C5DD-4414-BE18-B1CB73BA8E14}">
          <p14:sldIdLst>
            <p14:sldId id="256"/>
          </p14:sldIdLst>
        </p14:section>
        <p14:section name="Structures" id="{D7F7A9DD-40AF-4FF0-983D-7EE31D6C383F}">
          <p14:sldIdLst>
            <p14:sldId id="260"/>
          </p14:sldIdLst>
        </p14:section>
        <p14:section name="trees" id="{7919D812-9C73-4045-8B75-1233D5E8E9BE}">
          <p14:sldIdLst>
            <p14:sldId id="263"/>
            <p14:sldId id="257"/>
            <p14:sldId id="267"/>
            <p14:sldId id="266"/>
          </p14:sldIdLst>
        </p14:section>
        <p14:section name="Clustering" id="{60F2B4B4-E31A-4376-A4C9-6BAA220D1FAE}">
          <p14:sldIdLst>
            <p14:sldId id="261"/>
            <p14:sldId id="258"/>
            <p14:sldId id="259"/>
            <p14:sldId id="268"/>
            <p14:sldId id="269"/>
            <p14:sldId id="264"/>
            <p14:sldId id="262"/>
            <p14:sldId id="26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4660"/>
  </p:normalViewPr>
  <p:slideViewPr>
    <p:cSldViewPr snapToGrid="0">
      <p:cViewPr varScale="1">
        <p:scale>
          <a:sx n="70" d="100"/>
          <a:sy n="70" d="100"/>
        </p:scale>
        <p:origin x="42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3C72C-62AD-052A-6A1F-27C8A5267F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453B4F3C-CE1F-574A-2B63-6ED10C577A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50B8F26E-81E7-26E1-E3AD-1420CB845452}"/>
              </a:ext>
            </a:extLst>
          </p:cNvPr>
          <p:cNvSpPr>
            <a:spLocks noGrp="1"/>
          </p:cNvSpPr>
          <p:nvPr>
            <p:ph type="dt" sz="half" idx="10"/>
          </p:nvPr>
        </p:nvSpPr>
        <p:spPr/>
        <p:txBody>
          <a:bodyPr/>
          <a:lstStyle/>
          <a:p>
            <a:fld id="{25B3699C-E06E-4616-8458-8D40C8146C4C}" type="datetimeFigureOut">
              <a:rPr lang="en-AU" smtClean="0"/>
              <a:t>12/06/2026</a:t>
            </a:fld>
            <a:endParaRPr lang="en-AU"/>
          </a:p>
        </p:txBody>
      </p:sp>
      <p:sp>
        <p:nvSpPr>
          <p:cNvPr id="5" name="Footer Placeholder 4">
            <a:extLst>
              <a:ext uri="{FF2B5EF4-FFF2-40B4-BE49-F238E27FC236}">
                <a16:creationId xmlns:a16="http://schemas.microsoft.com/office/drawing/2014/main" id="{5B7E7848-BD4B-A580-D1C9-E81F74E8189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675F88D-E50F-569C-1C20-FE5CD8D2B0E6}"/>
              </a:ext>
            </a:extLst>
          </p:cNvPr>
          <p:cNvSpPr>
            <a:spLocks noGrp="1"/>
          </p:cNvSpPr>
          <p:nvPr>
            <p:ph type="sldNum" sz="quarter" idx="12"/>
          </p:nvPr>
        </p:nvSpPr>
        <p:spPr/>
        <p:txBody>
          <a:bodyPr/>
          <a:lstStyle/>
          <a:p>
            <a:fld id="{6E889354-63DB-4201-98BB-58743D1B9ACB}" type="slidenum">
              <a:rPr lang="en-AU" smtClean="0"/>
              <a:t>‹#›</a:t>
            </a:fld>
            <a:endParaRPr lang="en-AU"/>
          </a:p>
        </p:txBody>
      </p:sp>
    </p:spTree>
    <p:extLst>
      <p:ext uri="{BB962C8B-B14F-4D97-AF65-F5344CB8AC3E}">
        <p14:creationId xmlns:p14="http://schemas.microsoft.com/office/powerpoint/2010/main" val="14306713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16048-4C9B-7F8A-BBEA-AE8B79D5B627}"/>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4D4299E5-E6BF-25DE-8FB4-DBED7DA04B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41F11B7-B83D-94E8-C52B-D6F9ABDEC48E}"/>
              </a:ext>
            </a:extLst>
          </p:cNvPr>
          <p:cNvSpPr>
            <a:spLocks noGrp="1"/>
          </p:cNvSpPr>
          <p:nvPr>
            <p:ph type="dt" sz="half" idx="10"/>
          </p:nvPr>
        </p:nvSpPr>
        <p:spPr/>
        <p:txBody>
          <a:bodyPr/>
          <a:lstStyle/>
          <a:p>
            <a:fld id="{25B3699C-E06E-4616-8458-8D40C8146C4C}" type="datetimeFigureOut">
              <a:rPr lang="en-AU" smtClean="0"/>
              <a:t>12/06/2026</a:t>
            </a:fld>
            <a:endParaRPr lang="en-AU"/>
          </a:p>
        </p:txBody>
      </p:sp>
      <p:sp>
        <p:nvSpPr>
          <p:cNvPr id="5" name="Footer Placeholder 4">
            <a:extLst>
              <a:ext uri="{FF2B5EF4-FFF2-40B4-BE49-F238E27FC236}">
                <a16:creationId xmlns:a16="http://schemas.microsoft.com/office/drawing/2014/main" id="{CEC73A14-88DA-BA6E-C28A-DF857CB6E1C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E1CEE91-4A26-337E-E3BC-7194A3037ED6}"/>
              </a:ext>
            </a:extLst>
          </p:cNvPr>
          <p:cNvSpPr>
            <a:spLocks noGrp="1"/>
          </p:cNvSpPr>
          <p:nvPr>
            <p:ph type="sldNum" sz="quarter" idx="12"/>
          </p:nvPr>
        </p:nvSpPr>
        <p:spPr/>
        <p:txBody>
          <a:bodyPr/>
          <a:lstStyle/>
          <a:p>
            <a:fld id="{6E889354-63DB-4201-98BB-58743D1B9ACB}" type="slidenum">
              <a:rPr lang="en-AU" smtClean="0"/>
              <a:t>‹#›</a:t>
            </a:fld>
            <a:endParaRPr lang="en-AU"/>
          </a:p>
        </p:txBody>
      </p:sp>
    </p:spTree>
    <p:extLst>
      <p:ext uri="{BB962C8B-B14F-4D97-AF65-F5344CB8AC3E}">
        <p14:creationId xmlns:p14="http://schemas.microsoft.com/office/powerpoint/2010/main" val="3912259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FE280-537F-3D28-CA84-686588DECD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07AA9C4B-3C1E-267E-831C-98EC5A4643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DDB2F3-467F-96A5-F457-AA12D4CA3091}"/>
              </a:ext>
            </a:extLst>
          </p:cNvPr>
          <p:cNvSpPr>
            <a:spLocks noGrp="1"/>
          </p:cNvSpPr>
          <p:nvPr>
            <p:ph type="dt" sz="half" idx="10"/>
          </p:nvPr>
        </p:nvSpPr>
        <p:spPr/>
        <p:txBody>
          <a:bodyPr/>
          <a:lstStyle/>
          <a:p>
            <a:fld id="{25B3699C-E06E-4616-8458-8D40C8146C4C}" type="datetimeFigureOut">
              <a:rPr lang="en-AU" smtClean="0"/>
              <a:t>12/06/2026</a:t>
            </a:fld>
            <a:endParaRPr lang="en-AU"/>
          </a:p>
        </p:txBody>
      </p:sp>
      <p:sp>
        <p:nvSpPr>
          <p:cNvPr id="5" name="Footer Placeholder 4">
            <a:extLst>
              <a:ext uri="{FF2B5EF4-FFF2-40B4-BE49-F238E27FC236}">
                <a16:creationId xmlns:a16="http://schemas.microsoft.com/office/drawing/2014/main" id="{C3BF5E9D-CD12-8812-9755-4DA88582060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6D351EA-631D-8EC5-757D-F3E030CA4C00}"/>
              </a:ext>
            </a:extLst>
          </p:cNvPr>
          <p:cNvSpPr>
            <a:spLocks noGrp="1"/>
          </p:cNvSpPr>
          <p:nvPr>
            <p:ph type="sldNum" sz="quarter" idx="12"/>
          </p:nvPr>
        </p:nvSpPr>
        <p:spPr/>
        <p:txBody>
          <a:bodyPr/>
          <a:lstStyle/>
          <a:p>
            <a:fld id="{6E889354-63DB-4201-98BB-58743D1B9ACB}" type="slidenum">
              <a:rPr lang="en-AU" smtClean="0"/>
              <a:t>‹#›</a:t>
            </a:fld>
            <a:endParaRPr lang="en-AU"/>
          </a:p>
        </p:txBody>
      </p:sp>
    </p:spTree>
    <p:extLst>
      <p:ext uri="{BB962C8B-B14F-4D97-AF65-F5344CB8AC3E}">
        <p14:creationId xmlns:p14="http://schemas.microsoft.com/office/powerpoint/2010/main" val="121011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9E849-30BA-E913-9CCA-56C06FAF154C}"/>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01D760DA-A5CD-7074-5B8A-89823BE73A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A6EC16E9-0B23-C091-104F-975FC9C6B14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D08F1081-87F5-E648-DFB5-025B0D3D3FA0}"/>
              </a:ext>
            </a:extLst>
          </p:cNvPr>
          <p:cNvSpPr>
            <a:spLocks noGrp="1"/>
          </p:cNvSpPr>
          <p:nvPr>
            <p:ph type="dt" sz="half" idx="10"/>
          </p:nvPr>
        </p:nvSpPr>
        <p:spPr/>
        <p:txBody>
          <a:bodyPr/>
          <a:lstStyle/>
          <a:p>
            <a:fld id="{25B3699C-E06E-4616-8458-8D40C8146C4C}" type="datetimeFigureOut">
              <a:rPr lang="en-AU" smtClean="0"/>
              <a:t>12/06/2026</a:t>
            </a:fld>
            <a:endParaRPr lang="en-AU"/>
          </a:p>
        </p:txBody>
      </p:sp>
      <p:sp>
        <p:nvSpPr>
          <p:cNvPr id="6" name="Footer Placeholder 5">
            <a:extLst>
              <a:ext uri="{FF2B5EF4-FFF2-40B4-BE49-F238E27FC236}">
                <a16:creationId xmlns:a16="http://schemas.microsoft.com/office/drawing/2014/main" id="{72905E05-61E3-E95D-AC46-65B9C3B7AD9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FAC2DC5-41A5-4550-69D1-72A35B8CB05D}"/>
              </a:ext>
            </a:extLst>
          </p:cNvPr>
          <p:cNvSpPr>
            <a:spLocks noGrp="1"/>
          </p:cNvSpPr>
          <p:nvPr>
            <p:ph type="sldNum" sz="quarter" idx="12"/>
          </p:nvPr>
        </p:nvSpPr>
        <p:spPr/>
        <p:txBody>
          <a:bodyPr/>
          <a:lstStyle/>
          <a:p>
            <a:fld id="{6E889354-63DB-4201-98BB-58743D1B9ACB}" type="slidenum">
              <a:rPr lang="en-AU" smtClean="0"/>
              <a:t>‹#›</a:t>
            </a:fld>
            <a:endParaRPr lang="en-AU"/>
          </a:p>
        </p:txBody>
      </p:sp>
    </p:spTree>
    <p:extLst>
      <p:ext uri="{BB962C8B-B14F-4D97-AF65-F5344CB8AC3E}">
        <p14:creationId xmlns:p14="http://schemas.microsoft.com/office/powerpoint/2010/main" val="3423537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3B3FE-EE3E-30E0-3F1B-A23CFF6A31C7}"/>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077A5FC2-4DB3-A31F-5CE0-011311BA17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8EB2B2-7ACD-DE0C-A3C5-33D9993F71B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4F576E4F-6D95-005E-6DA7-4BF969C338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605D79-96E0-87CB-A98E-0BA05BAEF9A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DE5FFA22-E1BF-2D87-C4C8-CC3D4F2DCEF6}"/>
              </a:ext>
            </a:extLst>
          </p:cNvPr>
          <p:cNvSpPr>
            <a:spLocks noGrp="1"/>
          </p:cNvSpPr>
          <p:nvPr>
            <p:ph type="dt" sz="half" idx="10"/>
          </p:nvPr>
        </p:nvSpPr>
        <p:spPr/>
        <p:txBody>
          <a:bodyPr/>
          <a:lstStyle/>
          <a:p>
            <a:fld id="{25B3699C-E06E-4616-8458-8D40C8146C4C}" type="datetimeFigureOut">
              <a:rPr lang="en-AU" smtClean="0"/>
              <a:t>12/06/2026</a:t>
            </a:fld>
            <a:endParaRPr lang="en-AU"/>
          </a:p>
        </p:txBody>
      </p:sp>
      <p:sp>
        <p:nvSpPr>
          <p:cNvPr id="8" name="Footer Placeholder 7">
            <a:extLst>
              <a:ext uri="{FF2B5EF4-FFF2-40B4-BE49-F238E27FC236}">
                <a16:creationId xmlns:a16="http://schemas.microsoft.com/office/drawing/2014/main" id="{060DE927-0931-731D-71E1-CBB95B88850C}"/>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72E3C0B0-48F2-3369-8AE6-5A5EE78674C3}"/>
              </a:ext>
            </a:extLst>
          </p:cNvPr>
          <p:cNvSpPr>
            <a:spLocks noGrp="1"/>
          </p:cNvSpPr>
          <p:nvPr>
            <p:ph type="sldNum" sz="quarter" idx="12"/>
          </p:nvPr>
        </p:nvSpPr>
        <p:spPr/>
        <p:txBody>
          <a:bodyPr/>
          <a:lstStyle/>
          <a:p>
            <a:fld id="{6E889354-63DB-4201-98BB-58743D1B9ACB}" type="slidenum">
              <a:rPr lang="en-AU" smtClean="0"/>
              <a:t>‹#›</a:t>
            </a:fld>
            <a:endParaRPr lang="en-AU"/>
          </a:p>
        </p:txBody>
      </p:sp>
    </p:spTree>
    <p:extLst>
      <p:ext uri="{BB962C8B-B14F-4D97-AF65-F5344CB8AC3E}">
        <p14:creationId xmlns:p14="http://schemas.microsoft.com/office/powerpoint/2010/main" val="2909323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22BBB-02D9-A15E-B7E5-433265B6869E}"/>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1E91C157-7F1D-BEF0-8193-4A17B8612177}"/>
              </a:ext>
            </a:extLst>
          </p:cNvPr>
          <p:cNvSpPr>
            <a:spLocks noGrp="1"/>
          </p:cNvSpPr>
          <p:nvPr>
            <p:ph type="dt" sz="half" idx="10"/>
          </p:nvPr>
        </p:nvSpPr>
        <p:spPr/>
        <p:txBody>
          <a:bodyPr/>
          <a:lstStyle/>
          <a:p>
            <a:fld id="{25B3699C-E06E-4616-8458-8D40C8146C4C}" type="datetimeFigureOut">
              <a:rPr lang="en-AU" smtClean="0"/>
              <a:t>12/06/2026</a:t>
            </a:fld>
            <a:endParaRPr lang="en-AU"/>
          </a:p>
        </p:txBody>
      </p:sp>
      <p:sp>
        <p:nvSpPr>
          <p:cNvPr id="4" name="Footer Placeholder 3">
            <a:extLst>
              <a:ext uri="{FF2B5EF4-FFF2-40B4-BE49-F238E27FC236}">
                <a16:creationId xmlns:a16="http://schemas.microsoft.com/office/drawing/2014/main" id="{9AA5C242-142A-947F-9C12-68CA21BCD65C}"/>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55B1F3E5-7903-DD54-4207-2D61F307F0D5}"/>
              </a:ext>
            </a:extLst>
          </p:cNvPr>
          <p:cNvSpPr>
            <a:spLocks noGrp="1"/>
          </p:cNvSpPr>
          <p:nvPr>
            <p:ph type="sldNum" sz="quarter" idx="12"/>
          </p:nvPr>
        </p:nvSpPr>
        <p:spPr/>
        <p:txBody>
          <a:bodyPr/>
          <a:lstStyle/>
          <a:p>
            <a:fld id="{6E889354-63DB-4201-98BB-58743D1B9ACB}" type="slidenum">
              <a:rPr lang="en-AU" smtClean="0"/>
              <a:t>‹#›</a:t>
            </a:fld>
            <a:endParaRPr lang="en-AU"/>
          </a:p>
        </p:txBody>
      </p:sp>
    </p:spTree>
    <p:extLst>
      <p:ext uri="{BB962C8B-B14F-4D97-AF65-F5344CB8AC3E}">
        <p14:creationId xmlns:p14="http://schemas.microsoft.com/office/powerpoint/2010/main" val="415501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FEF022-4F5C-FE07-CD23-5DFA1CBBB105}"/>
              </a:ext>
            </a:extLst>
          </p:cNvPr>
          <p:cNvSpPr>
            <a:spLocks noGrp="1"/>
          </p:cNvSpPr>
          <p:nvPr>
            <p:ph type="dt" sz="half" idx="10"/>
          </p:nvPr>
        </p:nvSpPr>
        <p:spPr/>
        <p:txBody>
          <a:bodyPr/>
          <a:lstStyle/>
          <a:p>
            <a:fld id="{25B3699C-E06E-4616-8458-8D40C8146C4C}" type="datetimeFigureOut">
              <a:rPr lang="en-AU" smtClean="0"/>
              <a:t>12/06/2026</a:t>
            </a:fld>
            <a:endParaRPr lang="en-AU"/>
          </a:p>
        </p:txBody>
      </p:sp>
      <p:sp>
        <p:nvSpPr>
          <p:cNvPr id="3" name="Footer Placeholder 2">
            <a:extLst>
              <a:ext uri="{FF2B5EF4-FFF2-40B4-BE49-F238E27FC236}">
                <a16:creationId xmlns:a16="http://schemas.microsoft.com/office/drawing/2014/main" id="{EED34F36-91AC-BDB0-0EFC-0090F3C47430}"/>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ADC420B8-AD46-4795-FC72-3D53E6127F3C}"/>
              </a:ext>
            </a:extLst>
          </p:cNvPr>
          <p:cNvSpPr>
            <a:spLocks noGrp="1"/>
          </p:cNvSpPr>
          <p:nvPr>
            <p:ph type="sldNum" sz="quarter" idx="12"/>
          </p:nvPr>
        </p:nvSpPr>
        <p:spPr/>
        <p:txBody>
          <a:bodyPr/>
          <a:lstStyle/>
          <a:p>
            <a:fld id="{6E889354-63DB-4201-98BB-58743D1B9ACB}" type="slidenum">
              <a:rPr lang="en-AU" smtClean="0"/>
              <a:t>‹#›</a:t>
            </a:fld>
            <a:endParaRPr lang="en-AU"/>
          </a:p>
        </p:txBody>
      </p:sp>
    </p:spTree>
    <p:extLst>
      <p:ext uri="{BB962C8B-B14F-4D97-AF65-F5344CB8AC3E}">
        <p14:creationId xmlns:p14="http://schemas.microsoft.com/office/powerpoint/2010/main" val="301721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2D959-11FE-6886-2FBC-BCF8E88DE9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F19FF7C8-F73D-D1EE-00F2-ADAAC79E2C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F04EEE9D-3A0F-BCCF-E137-40CE8525C4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03DC16-0493-364C-0DC5-E67A586BBDFB}"/>
              </a:ext>
            </a:extLst>
          </p:cNvPr>
          <p:cNvSpPr>
            <a:spLocks noGrp="1"/>
          </p:cNvSpPr>
          <p:nvPr>
            <p:ph type="dt" sz="half" idx="10"/>
          </p:nvPr>
        </p:nvSpPr>
        <p:spPr/>
        <p:txBody>
          <a:bodyPr/>
          <a:lstStyle/>
          <a:p>
            <a:fld id="{25B3699C-E06E-4616-8458-8D40C8146C4C}" type="datetimeFigureOut">
              <a:rPr lang="en-AU" smtClean="0"/>
              <a:t>12/06/2026</a:t>
            </a:fld>
            <a:endParaRPr lang="en-AU"/>
          </a:p>
        </p:txBody>
      </p:sp>
      <p:sp>
        <p:nvSpPr>
          <p:cNvPr id="6" name="Footer Placeholder 5">
            <a:extLst>
              <a:ext uri="{FF2B5EF4-FFF2-40B4-BE49-F238E27FC236}">
                <a16:creationId xmlns:a16="http://schemas.microsoft.com/office/drawing/2014/main" id="{B189575F-2746-201F-C231-17BED073466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81A03203-B0E7-852E-BA89-D6FE71F92849}"/>
              </a:ext>
            </a:extLst>
          </p:cNvPr>
          <p:cNvSpPr>
            <a:spLocks noGrp="1"/>
          </p:cNvSpPr>
          <p:nvPr>
            <p:ph type="sldNum" sz="quarter" idx="12"/>
          </p:nvPr>
        </p:nvSpPr>
        <p:spPr/>
        <p:txBody>
          <a:bodyPr/>
          <a:lstStyle/>
          <a:p>
            <a:fld id="{6E889354-63DB-4201-98BB-58743D1B9ACB}" type="slidenum">
              <a:rPr lang="en-AU" smtClean="0"/>
              <a:t>‹#›</a:t>
            </a:fld>
            <a:endParaRPr lang="en-AU"/>
          </a:p>
        </p:txBody>
      </p:sp>
    </p:spTree>
    <p:extLst>
      <p:ext uri="{BB962C8B-B14F-4D97-AF65-F5344CB8AC3E}">
        <p14:creationId xmlns:p14="http://schemas.microsoft.com/office/powerpoint/2010/main" val="2529245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25822-4E96-19B9-0DC4-0B31AF7351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76949EAD-33CD-3A27-448C-EB4272B0A4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6222F190-018B-0C58-1254-4ADF05E4B5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029534-FA85-E3E3-0527-E42559BE3D62}"/>
              </a:ext>
            </a:extLst>
          </p:cNvPr>
          <p:cNvSpPr>
            <a:spLocks noGrp="1"/>
          </p:cNvSpPr>
          <p:nvPr>
            <p:ph type="dt" sz="half" idx="10"/>
          </p:nvPr>
        </p:nvSpPr>
        <p:spPr/>
        <p:txBody>
          <a:bodyPr/>
          <a:lstStyle/>
          <a:p>
            <a:fld id="{25B3699C-E06E-4616-8458-8D40C8146C4C}" type="datetimeFigureOut">
              <a:rPr lang="en-AU" smtClean="0"/>
              <a:t>12/06/2026</a:t>
            </a:fld>
            <a:endParaRPr lang="en-AU"/>
          </a:p>
        </p:txBody>
      </p:sp>
      <p:sp>
        <p:nvSpPr>
          <p:cNvPr id="6" name="Footer Placeholder 5">
            <a:extLst>
              <a:ext uri="{FF2B5EF4-FFF2-40B4-BE49-F238E27FC236}">
                <a16:creationId xmlns:a16="http://schemas.microsoft.com/office/drawing/2014/main" id="{F61BC756-38C0-6025-C3B7-82DA2BC16D7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0151E70-46F0-3837-1D07-499C336AEA86}"/>
              </a:ext>
            </a:extLst>
          </p:cNvPr>
          <p:cNvSpPr>
            <a:spLocks noGrp="1"/>
          </p:cNvSpPr>
          <p:nvPr>
            <p:ph type="sldNum" sz="quarter" idx="12"/>
          </p:nvPr>
        </p:nvSpPr>
        <p:spPr/>
        <p:txBody>
          <a:bodyPr/>
          <a:lstStyle/>
          <a:p>
            <a:fld id="{6E889354-63DB-4201-98BB-58743D1B9ACB}" type="slidenum">
              <a:rPr lang="en-AU" smtClean="0"/>
              <a:t>‹#›</a:t>
            </a:fld>
            <a:endParaRPr lang="en-AU"/>
          </a:p>
        </p:txBody>
      </p:sp>
    </p:spTree>
    <p:extLst>
      <p:ext uri="{BB962C8B-B14F-4D97-AF65-F5344CB8AC3E}">
        <p14:creationId xmlns:p14="http://schemas.microsoft.com/office/powerpoint/2010/main" val="2056396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61045-A0EB-37D5-0077-6D276D5BA3B9}"/>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71CCF0BD-66CC-BA19-36BA-78109EFBC8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33BCD2B-5662-DBC5-9645-64E979DEE23E}"/>
              </a:ext>
            </a:extLst>
          </p:cNvPr>
          <p:cNvSpPr>
            <a:spLocks noGrp="1"/>
          </p:cNvSpPr>
          <p:nvPr>
            <p:ph type="dt" sz="half" idx="10"/>
          </p:nvPr>
        </p:nvSpPr>
        <p:spPr/>
        <p:txBody>
          <a:bodyPr/>
          <a:lstStyle/>
          <a:p>
            <a:fld id="{25B3699C-E06E-4616-8458-8D40C8146C4C}" type="datetimeFigureOut">
              <a:rPr lang="en-AU" smtClean="0"/>
              <a:t>12/06/2026</a:t>
            </a:fld>
            <a:endParaRPr lang="en-AU"/>
          </a:p>
        </p:txBody>
      </p:sp>
      <p:sp>
        <p:nvSpPr>
          <p:cNvPr id="5" name="Footer Placeholder 4">
            <a:extLst>
              <a:ext uri="{FF2B5EF4-FFF2-40B4-BE49-F238E27FC236}">
                <a16:creationId xmlns:a16="http://schemas.microsoft.com/office/drawing/2014/main" id="{3336D14E-D877-4A32-B3CD-74FABEE7D78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FC45621-244E-C9E1-70D8-D3C31FAE622A}"/>
              </a:ext>
            </a:extLst>
          </p:cNvPr>
          <p:cNvSpPr>
            <a:spLocks noGrp="1"/>
          </p:cNvSpPr>
          <p:nvPr>
            <p:ph type="sldNum" sz="quarter" idx="12"/>
          </p:nvPr>
        </p:nvSpPr>
        <p:spPr/>
        <p:txBody>
          <a:bodyPr/>
          <a:lstStyle/>
          <a:p>
            <a:fld id="{6E889354-63DB-4201-98BB-58743D1B9ACB}" type="slidenum">
              <a:rPr lang="en-AU" smtClean="0"/>
              <a:t>‹#›</a:t>
            </a:fld>
            <a:endParaRPr lang="en-AU"/>
          </a:p>
        </p:txBody>
      </p:sp>
    </p:spTree>
    <p:extLst>
      <p:ext uri="{BB962C8B-B14F-4D97-AF65-F5344CB8AC3E}">
        <p14:creationId xmlns:p14="http://schemas.microsoft.com/office/powerpoint/2010/main" val="16181180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D104ED-8995-19D0-BE24-03DEEEE51E2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9877AE11-A3AD-5B4E-47D7-391359B0F98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DC26CA9-72BE-3656-9A28-E09D844D1B18}"/>
              </a:ext>
            </a:extLst>
          </p:cNvPr>
          <p:cNvSpPr>
            <a:spLocks noGrp="1"/>
          </p:cNvSpPr>
          <p:nvPr>
            <p:ph type="dt" sz="half" idx="10"/>
          </p:nvPr>
        </p:nvSpPr>
        <p:spPr/>
        <p:txBody>
          <a:bodyPr/>
          <a:lstStyle/>
          <a:p>
            <a:fld id="{25B3699C-E06E-4616-8458-8D40C8146C4C}" type="datetimeFigureOut">
              <a:rPr lang="en-AU" smtClean="0"/>
              <a:t>12/06/2026</a:t>
            </a:fld>
            <a:endParaRPr lang="en-AU"/>
          </a:p>
        </p:txBody>
      </p:sp>
      <p:sp>
        <p:nvSpPr>
          <p:cNvPr id="5" name="Footer Placeholder 4">
            <a:extLst>
              <a:ext uri="{FF2B5EF4-FFF2-40B4-BE49-F238E27FC236}">
                <a16:creationId xmlns:a16="http://schemas.microsoft.com/office/drawing/2014/main" id="{921941DC-E391-AD54-5595-EE3144F19FB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AB05875-AB8B-38BA-29DE-73CC8C8DDDC3}"/>
              </a:ext>
            </a:extLst>
          </p:cNvPr>
          <p:cNvSpPr>
            <a:spLocks noGrp="1"/>
          </p:cNvSpPr>
          <p:nvPr>
            <p:ph type="sldNum" sz="quarter" idx="12"/>
          </p:nvPr>
        </p:nvSpPr>
        <p:spPr/>
        <p:txBody>
          <a:bodyPr/>
          <a:lstStyle/>
          <a:p>
            <a:fld id="{6E889354-63DB-4201-98BB-58743D1B9ACB}" type="slidenum">
              <a:rPr lang="en-AU" smtClean="0"/>
              <a:t>‹#›</a:t>
            </a:fld>
            <a:endParaRPr lang="en-AU"/>
          </a:p>
        </p:txBody>
      </p:sp>
    </p:spTree>
    <p:extLst>
      <p:ext uri="{BB962C8B-B14F-4D97-AF65-F5344CB8AC3E}">
        <p14:creationId xmlns:p14="http://schemas.microsoft.com/office/powerpoint/2010/main" val="11080700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E64B59-8DF6-B9A0-948A-88032157B9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68C6ACB-8571-651C-775C-D236E84637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EBAFC8F-EF74-8B43-27E9-C16B344780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5B3699C-E06E-4616-8458-8D40C8146C4C}" type="datetimeFigureOut">
              <a:rPr lang="en-AU" smtClean="0"/>
              <a:t>12/06/2026</a:t>
            </a:fld>
            <a:endParaRPr lang="en-AU"/>
          </a:p>
        </p:txBody>
      </p:sp>
      <p:sp>
        <p:nvSpPr>
          <p:cNvPr id="5" name="Footer Placeholder 4">
            <a:extLst>
              <a:ext uri="{FF2B5EF4-FFF2-40B4-BE49-F238E27FC236}">
                <a16:creationId xmlns:a16="http://schemas.microsoft.com/office/drawing/2014/main" id="{188DF75E-909F-19AB-A37D-720EB43E09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B749AAD7-246B-3565-B1B0-4304B6A788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889354-63DB-4201-98BB-58743D1B9ACB}" type="slidenum">
              <a:rPr lang="en-AU" smtClean="0"/>
              <a:t>‹#›</a:t>
            </a:fld>
            <a:endParaRPr lang="en-AU"/>
          </a:p>
        </p:txBody>
      </p:sp>
    </p:spTree>
    <p:extLst>
      <p:ext uri="{BB962C8B-B14F-4D97-AF65-F5344CB8AC3E}">
        <p14:creationId xmlns:p14="http://schemas.microsoft.com/office/powerpoint/2010/main" val="13907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07D10-E1DF-443D-B848-496C4E023163}"/>
              </a:ext>
            </a:extLst>
          </p:cNvPr>
          <p:cNvSpPr>
            <a:spLocks noGrp="1"/>
          </p:cNvSpPr>
          <p:nvPr>
            <p:ph type="ctrTitle"/>
          </p:nvPr>
        </p:nvSpPr>
        <p:spPr>
          <a:xfrm>
            <a:off x="4886797" y="0"/>
            <a:ext cx="7098420" cy="3735465"/>
          </a:xfrm>
        </p:spPr>
        <p:txBody>
          <a:bodyPr>
            <a:normAutofit fontScale="90000"/>
          </a:bodyPr>
          <a:lstStyle/>
          <a:p>
            <a:pPr algn="l"/>
            <a:r>
              <a:rPr lang="en-AU" dirty="0">
                <a:latin typeface="Aptos Slab Black" panose="020B0004020202020204" pitchFamily="34" charset="0"/>
              </a:rPr>
              <a:t>Dissecting Protein Design Methods for Nipah Glycoprotein Binders </a:t>
            </a:r>
          </a:p>
        </p:txBody>
      </p:sp>
      <p:sp>
        <p:nvSpPr>
          <p:cNvPr id="3" name="Subtitle 2">
            <a:extLst>
              <a:ext uri="{FF2B5EF4-FFF2-40B4-BE49-F238E27FC236}">
                <a16:creationId xmlns:a16="http://schemas.microsoft.com/office/drawing/2014/main" id="{974A7E00-91D5-AA9A-B797-569C50CE6F76}"/>
              </a:ext>
            </a:extLst>
          </p:cNvPr>
          <p:cNvSpPr>
            <a:spLocks noGrp="1"/>
          </p:cNvSpPr>
          <p:nvPr>
            <p:ph type="subTitle" idx="1"/>
          </p:nvPr>
        </p:nvSpPr>
        <p:spPr>
          <a:xfrm>
            <a:off x="4886797" y="3735465"/>
            <a:ext cx="6724178" cy="1655762"/>
          </a:xfrm>
        </p:spPr>
        <p:txBody>
          <a:bodyPr/>
          <a:lstStyle/>
          <a:p>
            <a:pPr algn="l"/>
            <a:r>
              <a:rPr lang="en-US" dirty="0"/>
              <a:t>Leads: Kieran Lamb, Jamie Herzig &amp; Haley Stone</a:t>
            </a:r>
          </a:p>
          <a:p>
            <a:pPr algn="l"/>
            <a:r>
              <a:rPr lang="en-US" dirty="0"/>
              <a:t>Group: Sreenu Vattipally, Lohith Venkatachala &amp; Bavishya Tata</a:t>
            </a:r>
            <a:endParaRPr lang="en-AU" dirty="0"/>
          </a:p>
        </p:txBody>
      </p:sp>
      <p:pic>
        <p:nvPicPr>
          <p:cNvPr id="5" name="Picture 4" descr="The image depicts a complex, colorful molecular structure with intertwined, curly strands.&#10;&#10;AI-generated content may be incorrect.">
            <a:extLst>
              <a:ext uri="{FF2B5EF4-FFF2-40B4-BE49-F238E27FC236}">
                <a16:creationId xmlns:a16="http://schemas.microsoft.com/office/drawing/2014/main" id="{23436357-C128-1A51-3A91-CF640325F1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814" y="-173038"/>
            <a:ext cx="5030611" cy="6858000"/>
          </a:xfrm>
          <a:prstGeom prst="rect">
            <a:avLst/>
          </a:prstGeom>
        </p:spPr>
      </p:pic>
    </p:spTree>
    <p:extLst>
      <p:ext uri="{BB962C8B-B14F-4D97-AF65-F5344CB8AC3E}">
        <p14:creationId xmlns:p14="http://schemas.microsoft.com/office/powerpoint/2010/main" val="2715832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16D3F-2B19-CB75-0607-E56E7148AB7B}"/>
              </a:ext>
            </a:extLst>
          </p:cNvPr>
          <p:cNvSpPr>
            <a:spLocks noGrp="1"/>
          </p:cNvSpPr>
          <p:nvPr>
            <p:ph type="title"/>
          </p:nvPr>
        </p:nvSpPr>
        <p:spPr>
          <a:xfrm>
            <a:off x="425605" y="205098"/>
            <a:ext cx="5670395" cy="1325563"/>
          </a:xfrm>
        </p:spPr>
        <p:txBody>
          <a:bodyPr>
            <a:normAutofit fontScale="90000"/>
          </a:bodyPr>
          <a:lstStyle/>
          <a:p>
            <a:r>
              <a:rPr lang="en-US" dirty="0">
                <a:latin typeface="Aptos Slab Black" panose="020B0004020202020204" pitchFamily="34" charset="0"/>
              </a:rPr>
              <a:t>Secondary structures of binder proteins</a:t>
            </a:r>
            <a:endParaRPr lang="en-AU" dirty="0">
              <a:latin typeface="Aptos Slab Black" panose="020B0004020202020204" pitchFamily="34" charset="0"/>
            </a:endParaRPr>
          </a:p>
        </p:txBody>
      </p:sp>
      <p:pic>
        <p:nvPicPr>
          <p:cNvPr id="5" name="Content Placeholder 4" descr="The image depicts a list of top K-mers, which are sequences of nucleotides (DNA or RNA) that are commonly used in bioinformatics for sequence analysis.&#10;&#10;AI-generated content may be incorrect.">
            <a:extLst>
              <a:ext uri="{FF2B5EF4-FFF2-40B4-BE49-F238E27FC236}">
                <a16:creationId xmlns:a16="http://schemas.microsoft.com/office/drawing/2014/main" id="{DB03690A-1BA3-F7E6-D644-FB02E351472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82388" y="1718995"/>
            <a:ext cx="5375500" cy="4871746"/>
          </a:xfrm>
          <a:prstGeom prst="rect">
            <a:avLst/>
          </a:prstGeom>
        </p:spPr>
      </p:pic>
      <p:pic>
        <p:nvPicPr>
          <p:cNvPr id="7" name="Picture 6" descr="The diagram illustrates a list of various secondary structures found within a binder sequence, including different types such as helices, loops, and unassigned coils, with a percentage distribution and some specific annotations.&#10;&#10;AI-generated content may be incorrect.">
            <a:extLst>
              <a:ext uri="{FF2B5EF4-FFF2-40B4-BE49-F238E27FC236}">
                <a16:creationId xmlns:a16="http://schemas.microsoft.com/office/drawing/2014/main" id="{1B724930-BA3E-BD39-0743-05B7C1253D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5605" y="1718995"/>
            <a:ext cx="5670395" cy="5139005"/>
          </a:xfrm>
          <a:prstGeom prst="rect">
            <a:avLst/>
          </a:prstGeom>
        </p:spPr>
      </p:pic>
      <p:sp>
        <p:nvSpPr>
          <p:cNvPr id="9" name="Title 1">
            <a:extLst>
              <a:ext uri="{FF2B5EF4-FFF2-40B4-BE49-F238E27FC236}">
                <a16:creationId xmlns:a16="http://schemas.microsoft.com/office/drawing/2014/main" id="{32C85688-B470-3F4E-0DC7-3A5DA6271A45}"/>
              </a:ext>
            </a:extLst>
          </p:cNvPr>
          <p:cNvSpPr txBox="1">
            <a:spLocks/>
          </p:cNvSpPr>
          <p:nvPr/>
        </p:nvSpPr>
        <p:spPr>
          <a:xfrm>
            <a:off x="7463437" y="205098"/>
            <a:ext cx="4521299"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err="1">
                <a:latin typeface="Aptos Slab Black" panose="020B0004020202020204" pitchFamily="34" charset="0"/>
              </a:rPr>
              <a:t>Kmer</a:t>
            </a:r>
            <a:r>
              <a:rPr lang="en-US" dirty="0">
                <a:latin typeface="Aptos Slab Black" panose="020B0004020202020204" pitchFamily="34" charset="0"/>
              </a:rPr>
              <a:t> frequency of binders</a:t>
            </a:r>
            <a:endParaRPr lang="en-AU" dirty="0">
              <a:latin typeface="Aptos Slab Black" panose="020B0004020202020204" pitchFamily="34" charset="0"/>
            </a:endParaRPr>
          </a:p>
        </p:txBody>
      </p:sp>
    </p:spTree>
    <p:extLst>
      <p:ext uri="{BB962C8B-B14F-4D97-AF65-F5344CB8AC3E}">
        <p14:creationId xmlns:p14="http://schemas.microsoft.com/office/powerpoint/2010/main" val="1399799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F043F-9148-2795-E24D-08446AC7067C}"/>
              </a:ext>
            </a:extLst>
          </p:cNvPr>
          <p:cNvSpPr>
            <a:spLocks noGrp="1"/>
          </p:cNvSpPr>
          <p:nvPr>
            <p:ph type="title"/>
          </p:nvPr>
        </p:nvSpPr>
        <p:spPr>
          <a:xfrm>
            <a:off x="222504" y="142100"/>
            <a:ext cx="10515600" cy="1325563"/>
          </a:xfrm>
        </p:spPr>
        <p:txBody>
          <a:bodyPr/>
          <a:lstStyle/>
          <a:p>
            <a:r>
              <a:rPr lang="en-US" dirty="0">
                <a:latin typeface="Aptos Slab Black" panose="020B0004020202020204" pitchFamily="34" charset="0"/>
              </a:rPr>
              <a:t>Methods</a:t>
            </a:r>
            <a:endParaRPr lang="en-AU" dirty="0">
              <a:latin typeface="Aptos Slab Black" panose="020B0004020202020204" pitchFamily="34" charset="0"/>
            </a:endParaRPr>
          </a:p>
        </p:txBody>
      </p:sp>
      <p:sp>
        <p:nvSpPr>
          <p:cNvPr id="3" name="Content Placeholder 2">
            <a:extLst>
              <a:ext uri="{FF2B5EF4-FFF2-40B4-BE49-F238E27FC236}">
                <a16:creationId xmlns:a16="http://schemas.microsoft.com/office/drawing/2014/main" id="{C2269629-591D-E07C-DDD7-1EB9A53BD16A}"/>
              </a:ext>
            </a:extLst>
          </p:cNvPr>
          <p:cNvSpPr>
            <a:spLocks noGrp="1"/>
          </p:cNvSpPr>
          <p:nvPr>
            <p:ph idx="1"/>
          </p:nvPr>
        </p:nvSpPr>
        <p:spPr>
          <a:xfrm>
            <a:off x="345672" y="1253331"/>
            <a:ext cx="5921375" cy="4351338"/>
          </a:xfrm>
        </p:spPr>
        <p:txBody>
          <a:bodyPr>
            <a:normAutofit/>
          </a:bodyPr>
          <a:lstStyle/>
          <a:p>
            <a:r>
              <a:rPr lang="en-AU" b="1" dirty="0">
                <a:latin typeface="Aptos Slab" panose="020B0004020202020204" pitchFamily="34" charset="0"/>
              </a:rPr>
              <a:t>Dataset</a:t>
            </a:r>
            <a:endParaRPr lang="en-AU" dirty="0">
              <a:latin typeface="Aptos Slab" panose="020B0004020202020204" pitchFamily="34" charset="0"/>
            </a:endParaRPr>
          </a:p>
          <a:p>
            <a:pPr lvl="1"/>
            <a:r>
              <a:rPr lang="en-AU" dirty="0">
                <a:latin typeface="Aptos Slab" panose="020B0004020202020204" pitchFamily="34" charset="0"/>
              </a:rPr>
              <a:t>115 experimentally binding Nipah glycoprotein binder designs </a:t>
            </a:r>
          </a:p>
          <a:p>
            <a:pPr lvl="1"/>
            <a:r>
              <a:rPr lang="en-AU" dirty="0">
                <a:latin typeface="Aptos Slab" panose="020B0004020202020204" pitchFamily="34" charset="0"/>
              </a:rPr>
              <a:t>De novo status retained to compare template-derived vs de novo designs </a:t>
            </a:r>
          </a:p>
          <a:p>
            <a:r>
              <a:rPr lang="en-AU" b="1" dirty="0">
                <a:latin typeface="Aptos Slab" panose="020B0004020202020204" pitchFamily="34" charset="0"/>
              </a:rPr>
              <a:t>Representations compared</a:t>
            </a:r>
            <a:endParaRPr lang="en-AU" dirty="0">
              <a:latin typeface="Aptos Slab" panose="020B0004020202020204" pitchFamily="34" charset="0"/>
            </a:endParaRPr>
          </a:p>
          <a:p>
            <a:pPr lvl="1"/>
            <a:r>
              <a:rPr lang="en-AU" dirty="0">
                <a:latin typeface="Aptos Slab" panose="020B0004020202020204" pitchFamily="34" charset="0"/>
              </a:rPr>
              <a:t>MMseqs2 sequence clusters </a:t>
            </a:r>
          </a:p>
          <a:p>
            <a:pPr lvl="1"/>
            <a:r>
              <a:rPr lang="en-AU" dirty="0">
                <a:latin typeface="Aptos Slab" panose="020B0004020202020204" pitchFamily="34" charset="0"/>
              </a:rPr>
              <a:t>Alignment-free k-</a:t>
            </a:r>
            <a:r>
              <a:rPr lang="en-AU" dirty="0" err="1">
                <a:latin typeface="Aptos Slab" panose="020B0004020202020204" pitchFamily="34" charset="0"/>
              </a:rPr>
              <a:t>mer</a:t>
            </a:r>
            <a:r>
              <a:rPr lang="en-AU" dirty="0">
                <a:latin typeface="Aptos Slab" panose="020B0004020202020204" pitchFamily="34" charset="0"/>
              </a:rPr>
              <a:t> tree </a:t>
            </a:r>
          </a:p>
          <a:p>
            <a:pPr lvl="1"/>
            <a:r>
              <a:rPr lang="en-AU" dirty="0">
                <a:latin typeface="Aptos Slab" panose="020B0004020202020204" pitchFamily="34" charset="0"/>
              </a:rPr>
              <a:t>PLM embedding tree </a:t>
            </a:r>
          </a:p>
          <a:p>
            <a:pPr lvl="1"/>
            <a:r>
              <a:rPr lang="en-AU" dirty="0" err="1">
                <a:latin typeface="Aptos Slab" panose="020B0004020202020204" pitchFamily="34" charset="0"/>
              </a:rPr>
              <a:t>FoldMason</a:t>
            </a:r>
            <a:r>
              <a:rPr lang="en-AU" dirty="0">
                <a:latin typeface="Aptos Slab" panose="020B0004020202020204" pitchFamily="34" charset="0"/>
              </a:rPr>
              <a:t> structural tree</a:t>
            </a:r>
          </a:p>
          <a:p>
            <a:endParaRPr lang="en-AU" dirty="0">
              <a:latin typeface="Aptos Slab" panose="020B0004020202020204" pitchFamily="34" charset="0"/>
            </a:endParaRPr>
          </a:p>
        </p:txBody>
      </p:sp>
      <p:pic>
        <p:nvPicPr>
          <p:cNvPr id="5" name="Picture 4" descr="This image appears to be a scatter plot or bar chart displaying values for different categories, such as 'Design method,' 'No,' 'Yes,' and 'Unknown,' with values ranging from 1e-09 to 1e-06.&#10;&#10;AI-generated content may be incorrect.">
            <a:extLst>
              <a:ext uri="{FF2B5EF4-FFF2-40B4-BE49-F238E27FC236}">
                <a16:creationId xmlns:a16="http://schemas.microsoft.com/office/drawing/2014/main" id="{F80F3D1D-5BE9-9430-057D-64ACA9BBE401}"/>
              </a:ext>
            </a:extLst>
          </p:cNvPr>
          <p:cNvPicPr>
            <a:picLocks noChangeAspect="1"/>
          </p:cNvPicPr>
          <p:nvPr/>
        </p:nvPicPr>
        <p:blipFill>
          <a:blip r:embed="rId2"/>
          <a:stretch>
            <a:fillRect/>
          </a:stretch>
        </p:blipFill>
        <p:spPr>
          <a:xfrm>
            <a:off x="6390215" y="1253331"/>
            <a:ext cx="5801785" cy="4351339"/>
          </a:xfrm>
          <a:prstGeom prst="rect">
            <a:avLst/>
          </a:prstGeom>
        </p:spPr>
      </p:pic>
    </p:spTree>
    <p:extLst>
      <p:ext uri="{BB962C8B-B14F-4D97-AF65-F5344CB8AC3E}">
        <p14:creationId xmlns:p14="http://schemas.microsoft.com/office/powerpoint/2010/main" val="9075560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1CEF4-5C3B-1373-3B63-37AEB9673CD7}"/>
              </a:ext>
            </a:extLst>
          </p:cNvPr>
          <p:cNvSpPr>
            <a:spLocks noGrp="1"/>
          </p:cNvSpPr>
          <p:nvPr>
            <p:ph type="title"/>
          </p:nvPr>
        </p:nvSpPr>
        <p:spPr>
          <a:xfrm>
            <a:off x="485775" y="231775"/>
            <a:ext cx="7553325" cy="1325563"/>
          </a:xfrm>
        </p:spPr>
        <p:txBody>
          <a:bodyPr/>
          <a:lstStyle/>
          <a:p>
            <a:r>
              <a:rPr lang="en-US" dirty="0">
                <a:latin typeface="Aptos Slab Black" panose="020B0004020202020204" pitchFamily="34" charset="0"/>
              </a:rPr>
              <a:t>Trees</a:t>
            </a:r>
            <a:endParaRPr lang="en-AU" dirty="0">
              <a:latin typeface="Aptos Slab Black" panose="020B0004020202020204" pitchFamily="34" charset="0"/>
            </a:endParaRPr>
          </a:p>
        </p:txBody>
      </p:sp>
      <p:sp>
        <p:nvSpPr>
          <p:cNvPr id="3" name="Content Placeholder 2">
            <a:extLst>
              <a:ext uri="{FF2B5EF4-FFF2-40B4-BE49-F238E27FC236}">
                <a16:creationId xmlns:a16="http://schemas.microsoft.com/office/drawing/2014/main" id="{ED8E5C13-3C63-6B54-53E7-0CE55C5AF3D8}"/>
              </a:ext>
            </a:extLst>
          </p:cNvPr>
          <p:cNvSpPr>
            <a:spLocks noGrp="1"/>
          </p:cNvSpPr>
          <p:nvPr>
            <p:ph idx="1"/>
          </p:nvPr>
        </p:nvSpPr>
        <p:spPr>
          <a:xfrm>
            <a:off x="581025" y="1633538"/>
            <a:ext cx="6581775" cy="4351338"/>
          </a:xfrm>
        </p:spPr>
        <p:txBody>
          <a:bodyPr>
            <a:normAutofit fontScale="55000" lnSpcReduction="20000"/>
          </a:bodyPr>
          <a:lstStyle/>
          <a:p>
            <a:pPr marL="0" indent="0">
              <a:buNone/>
            </a:pPr>
            <a:r>
              <a:rPr lang="en-AU" b="1" dirty="0"/>
              <a:t>Alignment-free k-</a:t>
            </a:r>
            <a:r>
              <a:rPr lang="en-AU" b="1" dirty="0" err="1"/>
              <a:t>mer</a:t>
            </a:r>
            <a:r>
              <a:rPr lang="en-AU" b="1" dirty="0"/>
              <a:t> tree</a:t>
            </a:r>
            <a:endParaRPr lang="en-AU" dirty="0"/>
          </a:p>
          <a:p>
            <a:r>
              <a:rPr lang="en-AU" dirty="0"/>
              <a:t>Captures broad sequence-composition similarity </a:t>
            </a:r>
          </a:p>
          <a:p>
            <a:r>
              <a:rPr lang="en-AU" dirty="0"/>
              <a:t>De novo and template-derived binders are only partly separated </a:t>
            </a:r>
          </a:p>
          <a:p>
            <a:r>
              <a:rPr lang="en-AU" dirty="0"/>
              <a:t>Many structurally distinct binders remain grouped together by sequence composition </a:t>
            </a:r>
          </a:p>
          <a:p>
            <a:pPr marL="0" indent="0">
              <a:buNone/>
            </a:pPr>
            <a:r>
              <a:rPr lang="en-AU" b="1" dirty="0"/>
              <a:t>PLM embedding tree</a:t>
            </a:r>
            <a:endParaRPr lang="en-AU" dirty="0"/>
          </a:p>
          <a:p>
            <a:r>
              <a:rPr lang="en-AU" dirty="0"/>
              <a:t>Organises binders using learned sequence features </a:t>
            </a:r>
          </a:p>
          <a:p>
            <a:r>
              <a:rPr lang="en-AU" dirty="0"/>
              <a:t>Shows stronger agreement with the structural tree than the k-</a:t>
            </a:r>
            <a:r>
              <a:rPr lang="en-AU" dirty="0" err="1"/>
              <a:t>mer</a:t>
            </a:r>
            <a:r>
              <a:rPr lang="en-AU" dirty="0"/>
              <a:t> tree </a:t>
            </a:r>
          </a:p>
          <a:p>
            <a:r>
              <a:rPr lang="en-AU" dirty="0"/>
              <a:t>Suggests PLM embeddings capture some structure-like information from sequence alone </a:t>
            </a:r>
          </a:p>
          <a:p>
            <a:pPr marL="0" indent="0">
              <a:buNone/>
            </a:pPr>
            <a:r>
              <a:rPr lang="en-AU" b="1" dirty="0" err="1">
                <a:solidFill>
                  <a:schemeClr val="tx2">
                    <a:lumMod val="75000"/>
                    <a:lumOff val="25000"/>
                  </a:schemeClr>
                </a:solidFill>
              </a:rPr>
              <a:t>FoldMason</a:t>
            </a:r>
            <a:r>
              <a:rPr lang="en-AU" b="1" dirty="0">
                <a:solidFill>
                  <a:schemeClr val="tx2">
                    <a:lumMod val="75000"/>
                    <a:lumOff val="25000"/>
                  </a:schemeClr>
                </a:solidFill>
              </a:rPr>
              <a:t> structural tree</a:t>
            </a:r>
            <a:endParaRPr lang="en-AU" dirty="0">
              <a:solidFill>
                <a:schemeClr val="tx2">
                  <a:lumMod val="75000"/>
                  <a:lumOff val="25000"/>
                </a:schemeClr>
              </a:solidFill>
            </a:endParaRPr>
          </a:p>
          <a:p>
            <a:r>
              <a:rPr lang="en-AU" dirty="0"/>
              <a:t>Groups binders by predicted structural similarity </a:t>
            </a:r>
          </a:p>
          <a:p>
            <a:r>
              <a:rPr lang="en-AU" dirty="0"/>
              <a:t>Shows clearer separation between de novo and template-derived designs </a:t>
            </a:r>
          </a:p>
          <a:p>
            <a:r>
              <a:rPr lang="en-AU" dirty="0"/>
              <a:t>Reveals finer structural families that are missed by simple sequence clustering</a:t>
            </a:r>
          </a:p>
        </p:txBody>
      </p:sp>
      <p:pic>
        <p:nvPicPr>
          <p:cNvPr id="9" name="Graphic 8">
            <a:extLst>
              <a:ext uri="{FF2B5EF4-FFF2-40B4-BE49-F238E27FC236}">
                <a16:creationId xmlns:a16="http://schemas.microsoft.com/office/drawing/2014/main" id="{64C5C8EA-2534-7150-F2D2-C079F2210BC6}"/>
              </a:ext>
            </a:extLst>
          </p:cNvPr>
          <p:cNvPicPr>
            <a:picLocks noChangeAspect="1"/>
          </p:cNvPicPr>
          <p:nvPr/>
        </p:nvPicPr>
        <p:blipFill>
          <a:blip>
            <a:extLst>
              <a:ext uri="{96DAC541-7B7A-43D3-8B79-37D633B846F1}">
                <asvg:svgBlip xmlns:asvg="http://schemas.microsoft.com/office/drawing/2016/SVG/main" r:embed="rId2"/>
              </a:ext>
            </a:extLst>
          </a:blip>
          <a:srcRect t="2222"/>
          <a:stretch>
            <a:fillRect/>
          </a:stretch>
        </p:blipFill>
        <p:spPr>
          <a:xfrm>
            <a:off x="7910809" y="76200"/>
            <a:ext cx="4281191" cy="6705600"/>
          </a:xfrm>
          <a:prstGeom prst="rect">
            <a:avLst/>
          </a:prstGeom>
        </p:spPr>
      </p:pic>
    </p:spTree>
    <p:extLst>
      <p:ext uri="{BB962C8B-B14F-4D97-AF65-F5344CB8AC3E}">
        <p14:creationId xmlns:p14="http://schemas.microsoft.com/office/powerpoint/2010/main" val="3883889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8F8DE-7BEF-301D-7052-9D73196142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DDA991-E3F4-FD32-7104-1FC6694FBC68}"/>
              </a:ext>
            </a:extLst>
          </p:cNvPr>
          <p:cNvSpPr>
            <a:spLocks noGrp="1"/>
          </p:cNvSpPr>
          <p:nvPr>
            <p:ph type="title"/>
          </p:nvPr>
        </p:nvSpPr>
        <p:spPr>
          <a:xfrm>
            <a:off x="485775" y="231775"/>
            <a:ext cx="7553325" cy="1325563"/>
          </a:xfrm>
        </p:spPr>
        <p:txBody>
          <a:bodyPr/>
          <a:lstStyle/>
          <a:p>
            <a:r>
              <a:rPr lang="en-US" dirty="0">
                <a:latin typeface="Aptos Slab Black" panose="020B0004020202020204" pitchFamily="34" charset="0"/>
              </a:rPr>
              <a:t>Trees</a:t>
            </a:r>
            <a:endParaRPr lang="en-AU" dirty="0">
              <a:latin typeface="Aptos Slab Black" panose="020B0004020202020204" pitchFamily="34" charset="0"/>
            </a:endParaRPr>
          </a:p>
        </p:txBody>
      </p:sp>
      <p:sp>
        <p:nvSpPr>
          <p:cNvPr id="3" name="Content Placeholder 2">
            <a:extLst>
              <a:ext uri="{FF2B5EF4-FFF2-40B4-BE49-F238E27FC236}">
                <a16:creationId xmlns:a16="http://schemas.microsoft.com/office/drawing/2014/main" id="{1340E8BC-5B86-2B44-D2DE-344672203913}"/>
              </a:ext>
            </a:extLst>
          </p:cNvPr>
          <p:cNvSpPr>
            <a:spLocks noGrp="1"/>
          </p:cNvSpPr>
          <p:nvPr>
            <p:ph idx="1"/>
          </p:nvPr>
        </p:nvSpPr>
        <p:spPr>
          <a:xfrm>
            <a:off x="581025" y="1633538"/>
            <a:ext cx="6581775" cy="4351338"/>
          </a:xfrm>
        </p:spPr>
        <p:txBody>
          <a:bodyPr>
            <a:normAutofit fontScale="55000" lnSpcReduction="20000"/>
          </a:bodyPr>
          <a:lstStyle/>
          <a:p>
            <a:pPr marL="0" indent="0">
              <a:buNone/>
            </a:pPr>
            <a:r>
              <a:rPr lang="en-AU" b="1" dirty="0"/>
              <a:t>Alignment-free k-</a:t>
            </a:r>
            <a:r>
              <a:rPr lang="en-AU" b="1" dirty="0" err="1"/>
              <a:t>mer</a:t>
            </a:r>
            <a:r>
              <a:rPr lang="en-AU" b="1" dirty="0"/>
              <a:t> tree</a:t>
            </a:r>
            <a:endParaRPr lang="en-AU" dirty="0"/>
          </a:p>
          <a:p>
            <a:r>
              <a:rPr lang="en-AU" dirty="0"/>
              <a:t>Captures broad sequence-composition similarity </a:t>
            </a:r>
          </a:p>
          <a:p>
            <a:r>
              <a:rPr lang="en-AU" dirty="0"/>
              <a:t>De novo and template-derived binders are only partly separated </a:t>
            </a:r>
          </a:p>
          <a:p>
            <a:r>
              <a:rPr lang="en-AU" dirty="0"/>
              <a:t>Many structurally distinct binders remain grouped together by sequence composition </a:t>
            </a:r>
          </a:p>
          <a:p>
            <a:pPr marL="0" indent="0">
              <a:buNone/>
            </a:pPr>
            <a:r>
              <a:rPr lang="en-AU" b="1" dirty="0">
                <a:solidFill>
                  <a:schemeClr val="tx2">
                    <a:lumMod val="75000"/>
                    <a:lumOff val="25000"/>
                  </a:schemeClr>
                </a:solidFill>
              </a:rPr>
              <a:t>PLM embedding tree</a:t>
            </a:r>
            <a:endParaRPr lang="en-AU" dirty="0">
              <a:solidFill>
                <a:schemeClr val="tx2">
                  <a:lumMod val="75000"/>
                  <a:lumOff val="25000"/>
                </a:schemeClr>
              </a:solidFill>
            </a:endParaRPr>
          </a:p>
          <a:p>
            <a:r>
              <a:rPr lang="en-AU" dirty="0"/>
              <a:t>Organises binders using learned sequence features </a:t>
            </a:r>
          </a:p>
          <a:p>
            <a:r>
              <a:rPr lang="en-AU" dirty="0"/>
              <a:t>Shows stronger agreement with the structural tree than the k-</a:t>
            </a:r>
            <a:r>
              <a:rPr lang="en-AU" dirty="0" err="1"/>
              <a:t>mer</a:t>
            </a:r>
            <a:r>
              <a:rPr lang="en-AU" dirty="0"/>
              <a:t> tree </a:t>
            </a:r>
          </a:p>
          <a:p>
            <a:r>
              <a:rPr lang="en-AU" dirty="0"/>
              <a:t>Suggests PLM embeddings capture some structure-like information from sequence alone </a:t>
            </a:r>
          </a:p>
          <a:p>
            <a:pPr marL="0" indent="0">
              <a:buNone/>
            </a:pPr>
            <a:r>
              <a:rPr lang="en-AU" b="1" dirty="0" err="1"/>
              <a:t>FoldMason</a:t>
            </a:r>
            <a:r>
              <a:rPr lang="en-AU" b="1" dirty="0"/>
              <a:t> structural tree</a:t>
            </a:r>
            <a:endParaRPr lang="en-AU" dirty="0"/>
          </a:p>
          <a:p>
            <a:r>
              <a:rPr lang="en-AU" dirty="0"/>
              <a:t>Groups binders by predicted structural similarity </a:t>
            </a:r>
          </a:p>
          <a:p>
            <a:r>
              <a:rPr lang="en-AU" dirty="0"/>
              <a:t>Shows clearer separation between de novo and template-derived designs </a:t>
            </a:r>
          </a:p>
          <a:p>
            <a:r>
              <a:rPr lang="en-AU" dirty="0"/>
              <a:t>Reveals finer structural families that are missed by simple sequence clustering</a:t>
            </a:r>
          </a:p>
        </p:txBody>
      </p:sp>
      <p:pic>
        <p:nvPicPr>
          <p:cNvPr id="8" name="Graphic 7">
            <a:extLst>
              <a:ext uri="{FF2B5EF4-FFF2-40B4-BE49-F238E27FC236}">
                <a16:creationId xmlns:a16="http://schemas.microsoft.com/office/drawing/2014/main" id="{562CA4A2-322F-66BC-9AF7-AC5A9D2D64B4}"/>
              </a:ext>
            </a:extLst>
          </p:cNvPr>
          <p:cNvPicPr>
            <a:picLocks noChangeAspect="1"/>
          </p:cNvPicPr>
          <p:nvPr/>
        </p:nvPicPr>
        <p:blipFill>
          <a:blip>
            <a:extLst>
              <a:ext uri="{96DAC541-7B7A-43D3-8B79-37D633B846F1}">
                <asvg:svgBlip xmlns:asvg="http://schemas.microsoft.com/office/drawing/2016/SVG/main" r:embed="rId2"/>
              </a:ext>
            </a:extLst>
          </a:blip>
          <a:srcRect t="2400"/>
          <a:stretch>
            <a:fillRect/>
          </a:stretch>
        </p:blipFill>
        <p:spPr>
          <a:xfrm>
            <a:off x="7763256" y="24900"/>
            <a:ext cx="4428744" cy="6924099"/>
          </a:xfrm>
          <a:prstGeom prst="rect">
            <a:avLst/>
          </a:prstGeom>
        </p:spPr>
      </p:pic>
    </p:spTree>
    <p:extLst>
      <p:ext uri="{BB962C8B-B14F-4D97-AF65-F5344CB8AC3E}">
        <p14:creationId xmlns:p14="http://schemas.microsoft.com/office/powerpoint/2010/main" val="2927666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BE0A1-77A9-2C45-DD1E-3892EB0208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F7A83F-9725-8704-2465-B559784FA80E}"/>
              </a:ext>
            </a:extLst>
          </p:cNvPr>
          <p:cNvSpPr>
            <a:spLocks noGrp="1"/>
          </p:cNvSpPr>
          <p:nvPr>
            <p:ph type="title"/>
          </p:nvPr>
        </p:nvSpPr>
        <p:spPr>
          <a:xfrm>
            <a:off x="485775" y="231775"/>
            <a:ext cx="7553325" cy="1325563"/>
          </a:xfrm>
        </p:spPr>
        <p:txBody>
          <a:bodyPr/>
          <a:lstStyle/>
          <a:p>
            <a:r>
              <a:rPr lang="en-US" dirty="0">
                <a:latin typeface="Aptos Slab Black" panose="020B0004020202020204" pitchFamily="34" charset="0"/>
              </a:rPr>
              <a:t>Trees</a:t>
            </a:r>
            <a:endParaRPr lang="en-AU" dirty="0">
              <a:latin typeface="Aptos Slab Black" panose="020B0004020202020204" pitchFamily="34" charset="0"/>
            </a:endParaRPr>
          </a:p>
        </p:txBody>
      </p:sp>
      <p:sp>
        <p:nvSpPr>
          <p:cNvPr id="3" name="Content Placeholder 2">
            <a:extLst>
              <a:ext uri="{FF2B5EF4-FFF2-40B4-BE49-F238E27FC236}">
                <a16:creationId xmlns:a16="http://schemas.microsoft.com/office/drawing/2014/main" id="{AF5DFB2D-0360-9C50-6CCD-ACFF8C22B260}"/>
              </a:ext>
            </a:extLst>
          </p:cNvPr>
          <p:cNvSpPr>
            <a:spLocks noGrp="1"/>
          </p:cNvSpPr>
          <p:nvPr>
            <p:ph idx="1"/>
          </p:nvPr>
        </p:nvSpPr>
        <p:spPr>
          <a:xfrm>
            <a:off x="581025" y="1633538"/>
            <a:ext cx="6581775" cy="4351338"/>
          </a:xfrm>
        </p:spPr>
        <p:txBody>
          <a:bodyPr>
            <a:normAutofit fontScale="55000" lnSpcReduction="20000"/>
          </a:bodyPr>
          <a:lstStyle/>
          <a:p>
            <a:pPr marL="0" indent="0">
              <a:buNone/>
            </a:pPr>
            <a:r>
              <a:rPr lang="en-AU" b="1" dirty="0">
                <a:solidFill>
                  <a:schemeClr val="tx2">
                    <a:lumMod val="75000"/>
                    <a:lumOff val="25000"/>
                  </a:schemeClr>
                </a:solidFill>
              </a:rPr>
              <a:t>Alignment-free k-</a:t>
            </a:r>
            <a:r>
              <a:rPr lang="en-AU" b="1" dirty="0" err="1">
                <a:solidFill>
                  <a:schemeClr val="tx2">
                    <a:lumMod val="75000"/>
                    <a:lumOff val="25000"/>
                  </a:schemeClr>
                </a:solidFill>
              </a:rPr>
              <a:t>mer</a:t>
            </a:r>
            <a:r>
              <a:rPr lang="en-AU" b="1" dirty="0">
                <a:solidFill>
                  <a:schemeClr val="tx2">
                    <a:lumMod val="75000"/>
                    <a:lumOff val="25000"/>
                  </a:schemeClr>
                </a:solidFill>
              </a:rPr>
              <a:t> tree</a:t>
            </a:r>
            <a:endParaRPr lang="en-AU" dirty="0">
              <a:solidFill>
                <a:schemeClr val="tx2">
                  <a:lumMod val="75000"/>
                  <a:lumOff val="25000"/>
                </a:schemeClr>
              </a:solidFill>
            </a:endParaRPr>
          </a:p>
          <a:p>
            <a:r>
              <a:rPr lang="en-AU" dirty="0"/>
              <a:t>Captures broad sequence-composition similarity </a:t>
            </a:r>
          </a:p>
          <a:p>
            <a:r>
              <a:rPr lang="en-AU" dirty="0"/>
              <a:t>De novo and template-derived binders are only partly separated </a:t>
            </a:r>
          </a:p>
          <a:p>
            <a:r>
              <a:rPr lang="en-AU" dirty="0"/>
              <a:t>Many structurally distinct binders remain grouped together by sequence composition </a:t>
            </a:r>
          </a:p>
          <a:p>
            <a:pPr marL="0" indent="0">
              <a:buNone/>
            </a:pPr>
            <a:r>
              <a:rPr lang="en-AU" b="1" dirty="0"/>
              <a:t>PLM embedding tree</a:t>
            </a:r>
            <a:endParaRPr lang="en-AU" dirty="0"/>
          </a:p>
          <a:p>
            <a:r>
              <a:rPr lang="en-AU" dirty="0"/>
              <a:t>Organises binders using learned sequence features </a:t>
            </a:r>
          </a:p>
          <a:p>
            <a:r>
              <a:rPr lang="en-AU" dirty="0"/>
              <a:t>Shows stronger agreement with the structural tree than the k-</a:t>
            </a:r>
            <a:r>
              <a:rPr lang="en-AU" dirty="0" err="1"/>
              <a:t>mer</a:t>
            </a:r>
            <a:r>
              <a:rPr lang="en-AU" dirty="0"/>
              <a:t> tree </a:t>
            </a:r>
          </a:p>
          <a:p>
            <a:r>
              <a:rPr lang="en-AU" dirty="0"/>
              <a:t>Suggests PLM embeddings capture some structure-like information from sequence alone </a:t>
            </a:r>
          </a:p>
          <a:p>
            <a:pPr marL="0" indent="0">
              <a:buNone/>
            </a:pPr>
            <a:r>
              <a:rPr lang="en-AU" b="1" dirty="0" err="1"/>
              <a:t>FoldMason</a:t>
            </a:r>
            <a:r>
              <a:rPr lang="en-AU" b="1" dirty="0"/>
              <a:t> structural tree</a:t>
            </a:r>
            <a:endParaRPr lang="en-AU" dirty="0"/>
          </a:p>
          <a:p>
            <a:r>
              <a:rPr lang="en-AU" dirty="0"/>
              <a:t>Groups binders by predicted structural similarity </a:t>
            </a:r>
          </a:p>
          <a:p>
            <a:r>
              <a:rPr lang="en-AU" dirty="0"/>
              <a:t>Shows clearer separation between de novo and template-derived designs </a:t>
            </a:r>
          </a:p>
          <a:p>
            <a:r>
              <a:rPr lang="en-AU" dirty="0"/>
              <a:t>Reveals finer structural families that are missed by simple sequence clustering</a:t>
            </a:r>
          </a:p>
        </p:txBody>
      </p:sp>
      <p:pic>
        <p:nvPicPr>
          <p:cNvPr id="6" name="Picture 5" descr="The image appears to be a complex, colorful tree diagram or genealogy chart, with branches categorized by different animals, plants, and elements, such as 'cat', 'lynx', 'yak', 'fox', 'ibis', 'ox', 'orca', 'raven', 'swan', 'mole', 'moth', 'eagle', 'bee', 'shark', 'deer', 'toad', 'lynx', 'panther', and various colors like 'ruby', 'ivy', 'vine', 'plum', 'snow', 'granite', 'thorn', 'moss', 'quartz', 'cedar', 'wave', 'clay', 'ember', 'sand', 'frost', and 'oak'. Each branch has a unique number or code next to it, suggesting a possible sequence or categorization.&#10;&#10;AI-generated content may be incorrect.">
            <a:extLst>
              <a:ext uri="{FF2B5EF4-FFF2-40B4-BE49-F238E27FC236}">
                <a16:creationId xmlns:a16="http://schemas.microsoft.com/office/drawing/2014/main" id="{3278B394-A4A6-3482-D6C6-2571F6ED3D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67600" y="0"/>
            <a:ext cx="4572000" cy="6858000"/>
          </a:xfrm>
          <a:prstGeom prst="rect">
            <a:avLst/>
          </a:prstGeom>
        </p:spPr>
      </p:pic>
    </p:spTree>
    <p:extLst>
      <p:ext uri="{BB962C8B-B14F-4D97-AF65-F5344CB8AC3E}">
        <p14:creationId xmlns:p14="http://schemas.microsoft.com/office/powerpoint/2010/main" val="1007411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08586-50CD-51FE-6532-163C5FB0425E}"/>
              </a:ext>
            </a:extLst>
          </p:cNvPr>
          <p:cNvSpPr>
            <a:spLocks noGrp="1"/>
          </p:cNvSpPr>
          <p:nvPr>
            <p:ph type="title"/>
          </p:nvPr>
        </p:nvSpPr>
        <p:spPr>
          <a:xfrm>
            <a:off x="307848" y="18255"/>
            <a:ext cx="10515600" cy="1325563"/>
          </a:xfrm>
        </p:spPr>
        <p:txBody>
          <a:bodyPr/>
          <a:lstStyle/>
          <a:p>
            <a:r>
              <a:rPr lang="en-US" dirty="0" err="1">
                <a:latin typeface="Aptos Slab Black" panose="020B0004020202020204" pitchFamily="34" charset="0"/>
              </a:rPr>
              <a:t>MMSeqs</a:t>
            </a:r>
            <a:r>
              <a:rPr lang="en-US" dirty="0">
                <a:latin typeface="Aptos Slab Black" panose="020B0004020202020204" pitchFamily="34" charset="0"/>
              </a:rPr>
              <a:t> Sequences</a:t>
            </a:r>
            <a:endParaRPr lang="en-AU" dirty="0">
              <a:latin typeface="Aptos Slab Black" panose="020B0004020202020204" pitchFamily="34" charset="0"/>
            </a:endParaRPr>
          </a:p>
        </p:txBody>
      </p:sp>
      <p:sp>
        <p:nvSpPr>
          <p:cNvPr id="3" name="Content Placeholder 2">
            <a:extLst>
              <a:ext uri="{FF2B5EF4-FFF2-40B4-BE49-F238E27FC236}">
                <a16:creationId xmlns:a16="http://schemas.microsoft.com/office/drawing/2014/main" id="{6C112007-98A4-FC36-F2A8-1CA31219F45C}"/>
              </a:ext>
            </a:extLst>
          </p:cNvPr>
          <p:cNvSpPr>
            <a:spLocks noGrp="1"/>
          </p:cNvSpPr>
          <p:nvPr>
            <p:ph idx="1"/>
          </p:nvPr>
        </p:nvSpPr>
        <p:spPr>
          <a:xfrm>
            <a:off x="307848" y="1253331"/>
            <a:ext cx="10943732" cy="4351338"/>
          </a:xfrm>
        </p:spPr>
        <p:txBody>
          <a:bodyPr>
            <a:normAutofit/>
          </a:bodyPr>
          <a:lstStyle/>
          <a:p>
            <a:r>
              <a:rPr lang="en-GB" dirty="0">
                <a:latin typeface="Aptos Slab" panose="020B0004020202020204" pitchFamily="34" charset="0"/>
              </a:rPr>
              <a:t>Clustering at 80% identity / 80% coverage produced 82 clusters from 115</a:t>
            </a:r>
          </a:p>
          <a:p>
            <a:r>
              <a:rPr lang="en-GB" dirty="0">
                <a:latin typeface="Aptos Slab" panose="020B0004020202020204" pitchFamily="34" charset="0"/>
              </a:rPr>
              <a:t>One dominant cluster: 25 binders</a:t>
            </a:r>
          </a:p>
          <a:p>
            <a:r>
              <a:rPr lang="en-GB" dirty="0">
                <a:latin typeface="Aptos Slab" panose="020B0004020202020204" pitchFamily="34" charset="0"/>
              </a:rPr>
              <a:t>Only 5 clusters contained more than one binder</a:t>
            </a:r>
          </a:p>
          <a:p>
            <a:r>
              <a:rPr lang="en-GB" dirty="0">
                <a:latin typeface="Aptos Slab" panose="020B0004020202020204" pitchFamily="34" charset="0"/>
              </a:rPr>
              <a:t>77 / 82 clusters were singletons</a:t>
            </a:r>
          </a:p>
          <a:p>
            <a:r>
              <a:rPr lang="en-GB" dirty="0">
                <a:latin typeface="Aptos Slab" panose="020B0004020202020204" pitchFamily="34" charset="0"/>
              </a:rPr>
              <a:t>Top 5 clusters captured 38 / 115 binders</a:t>
            </a:r>
            <a:endParaRPr lang="en-AU" dirty="0">
              <a:latin typeface="Aptos Slab" panose="020B0004020202020204" pitchFamily="34" charset="0"/>
            </a:endParaRPr>
          </a:p>
        </p:txBody>
      </p:sp>
    </p:spTree>
    <p:extLst>
      <p:ext uri="{BB962C8B-B14F-4D97-AF65-F5344CB8AC3E}">
        <p14:creationId xmlns:p14="http://schemas.microsoft.com/office/powerpoint/2010/main" val="3656968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53D97-C466-1C1B-5112-C9CDDA301FE5}"/>
              </a:ext>
            </a:extLst>
          </p:cNvPr>
          <p:cNvSpPr txBox="1">
            <a:spLocks noGrp="1"/>
          </p:cNvSpPr>
          <p:nvPr>
            <p:ph type="title"/>
          </p:nvPr>
        </p:nvSpPr>
        <p:spPr>
          <a:xfrm>
            <a:off x="346008" y="182880"/>
            <a:ext cx="11724072" cy="693170"/>
          </a:xfrm>
        </p:spPr>
        <p:txBody>
          <a:bodyPr>
            <a:noAutofit/>
          </a:bodyPr>
          <a:lstStyle/>
          <a:p>
            <a:pPr lvl="0"/>
            <a:r>
              <a:rPr lang="en-GB" sz="4400" dirty="0">
                <a:latin typeface="Aptos Slab Black" panose="020B0004020202020204" pitchFamily="34" charset="0"/>
              </a:rPr>
              <a:t>Clustering of Nipah binding sequence</a:t>
            </a:r>
          </a:p>
        </p:txBody>
      </p:sp>
      <p:pic>
        <p:nvPicPr>
          <p:cNvPr id="3" name="Content Placeholder 5">
            <a:extLst>
              <a:ext uri="{FF2B5EF4-FFF2-40B4-BE49-F238E27FC236}">
                <a16:creationId xmlns:a16="http://schemas.microsoft.com/office/drawing/2014/main" id="{C81E9195-8813-B196-277E-6AF0ED4BB384}"/>
              </a:ext>
            </a:extLst>
          </p:cNvPr>
          <p:cNvPicPr>
            <a:picLocks noGrp="1" noChangeAspect="1"/>
          </p:cNvPicPr>
          <p:nvPr>
            <p:ph idx="1"/>
          </p:nvPr>
        </p:nvPicPr>
        <p:blipFill>
          <a:blip r:embed="rId2"/>
          <a:stretch>
            <a:fillRect/>
          </a:stretch>
        </p:blipFill>
        <p:spPr>
          <a:xfrm>
            <a:off x="5792659" y="1096347"/>
            <a:ext cx="6172200" cy="4552340"/>
          </a:xfrm>
        </p:spPr>
      </p:pic>
      <p:sp>
        <p:nvSpPr>
          <p:cNvPr id="4" name="Text Placeholder 3">
            <a:extLst>
              <a:ext uri="{FF2B5EF4-FFF2-40B4-BE49-F238E27FC236}">
                <a16:creationId xmlns:a16="http://schemas.microsoft.com/office/drawing/2014/main" id="{DF53484F-95C4-3C20-F01A-36A12BAE9935}"/>
              </a:ext>
            </a:extLst>
          </p:cNvPr>
          <p:cNvSpPr txBox="1">
            <a:spLocks noGrp="1"/>
          </p:cNvSpPr>
          <p:nvPr>
            <p:ph type="body" idx="2"/>
          </p:nvPr>
        </p:nvSpPr>
        <p:spPr>
          <a:xfrm>
            <a:off x="510600" y="986171"/>
            <a:ext cx="4747200" cy="5332333"/>
          </a:xfrm>
        </p:spPr>
        <p:txBody>
          <a:bodyPr>
            <a:normAutofit/>
          </a:bodyPr>
          <a:lstStyle/>
          <a:p>
            <a:pPr marL="285750" lvl="0" indent="-285750">
              <a:buChar char="•"/>
            </a:pPr>
            <a:r>
              <a:rPr lang="en-IN" sz="2200" dirty="0">
                <a:latin typeface="Aptos Slab" panose="020B0004020202020204" pitchFamily="34" charset="0"/>
              </a:rPr>
              <a:t>Sequences were encoded into high-dimensional PLM embeddings, capturing structural and chemical features.</a:t>
            </a:r>
          </a:p>
          <a:p>
            <a:pPr marL="285750" lvl="0" indent="-285750">
              <a:buChar char="•"/>
            </a:pPr>
            <a:r>
              <a:rPr lang="en-IN" sz="2200" dirty="0">
                <a:latin typeface="Aptos Slab" panose="020B0004020202020204" pitchFamily="34" charset="0"/>
              </a:rPr>
              <a:t>A blind K-Means algorithm (k=2) successfully identified a binary structural divergence within the binder population.</a:t>
            </a:r>
          </a:p>
          <a:p>
            <a:pPr marL="285750" lvl="0" indent="-285750">
              <a:buChar char="•"/>
            </a:pPr>
            <a:r>
              <a:rPr lang="en-GB" sz="2200" dirty="0">
                <a:latin typeface="Aptos Slab" panose="020B0004020202020204" pitchFamily="34" charset="0"/>
              </a:rPr>
              <a:t>The data was cross referenced with </a:t>
            </a:r>
            <a:r>
              <a:rPr lang="en-GB" sz="2200" dirty="0" err="1">
                <a:latin typeface="Aptos Slab" panose="020B0004020202020204" pitchFamily="34" charset="0"/>
              </a:rPr>
              <a:t>denovo</a:t>
            </a:r>
            <a:r>
              <a:rPr lang="en-GB" sz="2200" dirty="0">
                <a:latin typeface="Aptos Slab" panose="020B0004020202020204" pitchFamily="34" charset="0"/>
              </a:rPr>
              <a:t> vs scaffold metadata</a:t>
            </a:r>
          </a:p>
          <a:p>
            <a:pPr marL="285750" lvl="0" indent="-285750">
              <a:buChar char="•"/>
            </a:pPr>
            <a:r>
              <a:rPr lang="en-GB" sz="2200" dirty="0">
                <a:latin typeface="Aptos Slab" panose="020B0004020202020204" pitchFamily="34" charset="0"/>
              </a:rPr>
              <a:t>Cluster 0 had 75 population count whereas the cluster 1 had 39 which is less diversified than Cluster 0</a:t>
            </a:r>
          </a:p>
          <a:p>
            <a:pPr marL="285750" lvl="0" indent="-285750">
              <a:buChar char="•"/>
            </a:pPr>
            <a:endParaRPr lang="en-GB" dirty="0">
              <a:latin typeface="Aptos Slab" panose="020B0004020202020204" pitchFamily="34" charset="0"/>
            </a:endParaRPr>
          </a:p>
        </p:txBody>
      </p:sp>
      <p:sp>
        <p:nvSpPr>
          <p:cNvPr id="5" name="TextBox 6">
            <a:extLst>
              <a:ext uri="{FF2B5EF4-FFF2-40B4-BE49-F238E27FC236}">
                <a16:creationId xmlns:a16="http://schemas.microsoft.com/office/drawing/2014/main" id="{492C1A58-D4CB-B726-BBC3-19844A48E797}"/>
              </a:ext>
            </a:extLst>
          </p:cNvPr>
          <p:cNvSpPr txBox="1"/>
          <p:nvPr/>
        </p:nvSpPr>
        <p:spPr>
          <a:xfrm>
            <a:off x="7547994" y="5761653"/>
            <a:ext cx="3580254" cy="36933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dirty="0">
                <a:solidFill>
                  <a:srgbClr val="000000"/>
                </a:solidFill>
                <a:uFillTx/>
                <a:latin typeface="Aptos Slab Black" panose="020B0004020202020204" pitchFamily="34" charset="0"/>
              </a:rPr>
              <a:t>Denovo vs scaffold metadata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BC0F0-8182-25C9-B3AA-550C103C10FE}"/>
              </a:ext>
            </a:extLst>
          </p:cNvPr>
          <p:cNvSpPr txBox="1">
            <a:spLocks noGrp="1"/>
          </p:cNvSpPr>
          <p:nvPr>
            <p:ph type="title"/>
          </p:nvPr>
        </p:nvSpPr>
        <p:spPr>
          <a:xfrm>
            <a:off x="528888" y="376367"/>
            <a:ext cx="9675816" cy="531815"/>
          </a:xfrm>
        </p:spPr>
        <p:txBody>
          <a:bodyPr>
            <a:noAutofit/>
          </a:bodyPr>
          <a:lstStyle/>
          <a:p>
            <a:pPr lvl="0"/>
            <a:r>
              <a:rPr lang="en-GB" sz="4400" dirty="0">
                <a:latin typeface="Aptos Slab Black" panose="020B0004020202020204" pitchFamily="34" charset="0"/>
              </a:rPr>
              <a:t>Cluster identity by sequence origin</a:t>
            </a:r>
          </a:p>
        </p:txBody>
      </p:sp>
      <p:pic>
        <p:nvPicPr>
          <p:cNvPr id="3" name="Content Placeholder 5">
            <a:extLst>
              <a:ext uri="{FF2B5EF4-FFF2-40B4-BE49-F238E27FC236}">
                <a16:creationId xmlns:a16="http://schemas.microsoft.com/office/drawing/2014/main" id="{2009C87B-222F-7D5F-A555-7CDFBEDA005C}"/>
              </a:ext>
            </a:extLst>
          </p:cNvPr>
          <p:cNvPicPr>
            <a:picLocks noGrp="1" noChangeAspect="1"/>
          </p:cNvPicPr>
          <p:nvPr>
            <p:ph idx="1"/>
          </p:nvPr>
        </p:nvPicPr>
        <p:blipFill>
          <a:blip r:embed="rId2"/>
          <a:stretch>
            <a:fillRect/>
          </a:stretch>
        </p:blipFill>
        <p:spPr>
          <a:xfrm>
            <a:off x="6096000" y="1366689"/>
            <a:ext cx="5328318" cy="3986482"/>
          </a:xfrm>
        </p:spPr>
      </p:pic>
      <p:sp>
        <p:nvSpPr>
          <p:cNvPr id="4" name="Text Placeholder 3">
            <a:extLst>
              <a:ext uri="{FF2B5EF4-FFF2-40B4-BE49-F238E27FC236}">
                <a16:creationId xmlns:a16="http://schemas.microsoft.com/office/drawing/2014/main" id="{D2C9ED40-916E-D7C4-B2DB-1F8E1DD512B0}"/>
              </a:ext>
            </a:extLst>
          </p:cNvPr>
          <p:cNvSpPr txBox="1">
            <a:spLocks noGrp="1"/>
          </p:cNvSpPr>
          <p:nvPr>
            <p:ph type="body" idx="2"/>
          </p:nvPr>
        </p:nvSpPr>
        <p:spPr>
          <a:xfrm>
            <a:off x="620332" y="1225295"/>
            <a:ext cx="4893500" cy="5056633"/>
          </a:xfrm>
        </p:spPr>
        <p:txBody>
          <a:bodyPr>
            <a:noAutofit/>
          </a:bodyPr>
          <a:lstStyle/>
          <a:p>
            <a:pPr marL="285750" lvl="0" indent="-285750">
              <a:lnSpc>
                <a:spcPct val="80000"/>
              </a:lnSpc>
              <a:buChar char="•"/>
            </a:pPr>
            <a:r>
              <a:rPr lang="en-IN" sz="2000" dirty="0">
                <a:latin typeface="Aptos Slab" panose="020B0004020202020204" pitchFamily="34" charset="0"/>
              </a:rPr>
              <a:t>Cluster 0 is almost entirely composed of de novo designs. The algorithm naturally gravitated most of the sequences into this cluster, and carry the "yes" label for de novo origin. The few natural scaffolds and unknowns are the outliers.</a:t>
            </a:r>
          </a:p>
          <a:p>
            <a:pPr marL="285750" lvl="0" indent="-285750">
              <a:lnSpc>
                <a:spcPct val="80000"/>
              </a:lnSpc>
              <a:buChar char="•"/>
            </a:pPr>
            <a:r>
              <a:rPr lang="en-IN" sz="2000" dirty="0">
                <a:latin typeface="Aptos Slab" panose="020B0004020202020204" pitchFamily="34" charset="0"/>
              </a:rPr>
              <a:t>Likely sequences with atypical structural features that pull them toward this neighbourhood despite their origin.</a:t>
            </a:r>
          </a:p>
          <a:p>
            <a:pPr marL="285750" lvl="0" indent="-285750">
              <a:lnSpc>
                <a:spcPct val="80000"/>
              </a:lnSpc>
              <a:buChar char="•"/>
            </a:pPr>
            <a:r>
              <a:rPr lang="en-IN" sz="2000" dirty="0">
                <a:latin typeface="Aptos Slab" panose="020B0004020202020204" pitchFamily="34" charset="0"/>
              </a:rPr>
              <a:t>Cluster 1 is a pure natural sequence cluster. Every single de novo design was excluded; 90% are confirmed natural scaffolds, suggesting Cluster 1 occupies a distinct region of embedding space that is fundamentally incompatible with generative designs.</a:t>
            </a:r>
            <a:endParaRPr lang="en-GB" sz="2000" dirty="0">
              <a:latin typeface="Aptos Slab" panose="020B0004020202020204" pitchFamily="34" charset="0"/>
            </a:endParaRPr>
          </a:p>
        </p:txBody>
      </p:sp>
      <p:sp>
        <p:nvSpPr>
          <p:cNvPr id="5" name="TextBox 4">
            <a:extLst>
              <a:ext uri="{FF2B5EF4-FFF2-40B4-BE49-F238E27FC236}">
                <a16:creationId xmlns:a16="http://schemas.microsoft.com/office/drawing/2014/main" id="{FEB8FE4E-F6D6-6A91-5D72-55A6D0CDB011}"/>
              </a:ext>
            </a:extLst>
          </p:cNvPr>
          <p:cNvSpPr txBox="1"/>
          <p:nvPr/>
        </p:nvSpPr>
        <p:spPr>
          <a:xfrm>
            <a:off x="10693844" y="1861427"/>
            <a:ext cx="1202500" cy="553998"/>
          </a:xfrm>
          <a:prstGeom prst="rect">
            <a:avLst/>
          </a:prstGeom>
          <a:solidFill>
            <a:schemeClr val="bg1"/>
          </a:solidFill>
        </p:spPr>
        <p:txBody>
          <a:bodyPr wrap="square" rtlCol="0">
            <a:spAutoFit/>
          </a:bodyPr>
          <a:lstStyle/>
          <a:p>
            <a:r>
              <a:rPr lang="en-US" sz="1000" dirty="0"/>
              <a:t>Template</a:t>
            </a:r>
          </a:p>
          <a:p>
            <a:r>
              <a:rPr lang="en-US" sz="1000" dirty="0"/>
              <a:t>Unknown</a:t>
            </a:r>
          </a:p>
          <a:p>
            <a:r>
              <a:rPr lang="en-US" sz="1000" dirty="0"/>
              <a:t>Denovo</a:t>
            </a:r>
            <a:endParaRPr lang="en-AU"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C5FDA51-614D-1BCC-D454-820A672B0DCD}"/>
              </a:ext>
            </a:extLst>
          </p:cNvPr>
          <p:cNvSpPr txBox="1">
            <a:spLocks/>
          </p:cNvSpPr>
          <p:nvPr/>
        </p:nvSpPr>
        <p:spPr>
          <a:xfrm>
            <a:off x="296333" y="-421919"/>
            <a:ext cx="10515600"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sz="4400" dirty="0">
                <a:latin typeface="Aptos Slab Black" panose="020B0004020202020204" pitchFamily="34" charset="0"/>
              </a:rPr>
              <a:t>The Cluster 0 Outliers</a:t>
            </a:r>
            <a:endParaRPr lang="en-AU" sz="4400" dirty="0">
              <a:latin typeface="Aptos Slab Black" panose="020B0004020202020204" pitchFamily="34" charset="0"/>
            </a:endParaRPr>
          </a:p>
        </p:txBody>
      </p:sp>
      <p:pic>
        <p:nvPicPr>
          <p:cNvPr id="7" name="Picture 6" descr="The image shows a list of file names for different types of PDB files, with their corresponding number labels.&#10;&#10;AI-generated content may be incorrect.">
            <a:extLst>
              <a:ext uri="{FF2B5EF4-FFF2-40B4-BE49-F238E27FC236}">
                <a16:creationId xmlns:a16="http://schemas.microsoft.com/office/drawing/2014/main" id="{D1E8B702-B9B9-140E-1C8E-BFCED4BE1D46}"/>
              </a:ext>
            </a:extLst>
          </p:cNvPr>
          <p:cNvPicPr>
            <a:picLocks noChangeAspect="1"/>
          </p:cNvPicPr>
          <p:nvPr/>
        </p:nvPicPr>
        <p:blipFill>
          <a:blip r:embed="rId2">
            <a:extLst>
              <a:ext uri="{28A0092B-C50C-407E-A947-70E740481C1C}">
                <a14:useLocalDpi xmlns:a14="http://schemas.microsoft.com/office/drawing/2010/main" val="0"/>
              </a:ext>
            </a:extLst>
          </a:blip>
          <a:srcRect r="20212"/>
          <a:stretch>
            <a:fillRect/>
          </a:stretch>
        </p:blipFill>
        <p:spPr>
          <a:xfrm>
            <a:off x="8251656" y="903644"/>
            <a:ext cx="2847525" cy="1066855"/>
          </a:xfrm>
          <a:prstGeom prst="rect">
            <a:avLst/>
          </a:prstGeom>
        </p:spPr>
      </p:pic>
      <p:pic>
        <p:nvPicPr>
          <p:cNvPr id="9" name="Picture 8" descr="This is a diagram depicting a molecular structure, possibly a protein or nucleic acid, with arrows indicating a directional flow or interaction.&#10;&#10;AI-generated content may be incorrect.">
            <a:extLst>
              <a:ext uri="{FF2B5EF4-FFF2-40B4-BE49-F238E27FC236}">
                <a16:creationId xmlns:a16="http://schemas.microsoft.com/office/drawing/2014/main" id="{F28829F0-A82F-1B17-6106-95FB0A5755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5145" y="1970499"/>
            <a:ext cx="5304730" cy="4130528"/>
          </a:xfrm>
          <a:prstGeom prst="rect">
            <a:avLst/>
          </a:prstGeom>
        </p:spPr>
      </p:pic>
      <p:sp>
        <p:nvSpPr>
          <p:cNvPr id="10" name="Text Placeholder 3">
            <a:extLst>
              <a:ext uri="{FF2B5EF4-FFF2-40B4-BE49-F238E27FC236}">
                <a16:creationId xmlns:a16="http://schemas.microsoft.com/office/drawing/2014/main" id="{52292023-A43C-76D2-AC18-0D21827AC185}"/>
              </a:ext>
            </a:extLst>
          </p:cNvPr>
          <p:cNvSpPr txBox="1">
            <a:spLocks noGrp="1"/>
          </p:cNvSpPr>
          <p:nvPr>
            <p:ph type="body" idx="2"/>
          </p:nvPr>
        </p:nvSpPr>
        <p:spPr>
          <a:xfrm>
            <a:off x="296333" y="1437071"/>
            <a:ext cx="4893500" cy="5056633"/>
          </a:xfrm>
        </p:spPr>
        <p:txBody>
          <a:bodyPr>
            <a:noAutofit/>
          </a:bodyPr>
          <a:lstStyle/>
          <a:p>
            <a:pPr marL="285750" lvl="0" indent="-285750">
              <a:lnSpc>
                <a:spcPct val="80000"/>
              </a:lnSpc>
              <a:buChar char="•"/>
            </a:pPr>
            <a:r>
              <a:rPr lang="en-IN" sz="2000" dirty="0">
                <a:latin typeface="Aptos Slab" panose="020B0004020202020204" pitchFamily="34" charset="0"/>
              </a:rPr>
              <a:t>The 4 template structures in cluster 0 appear structurally almost identical.</a:t>
            </a:r>
          </a:p>
          <a:p>
            <a:pPr marL="285750" lvl="0" indent="-285750">
              <a:lnSpc>
                <a:spcPct val="80000"/>
              </a:lnSpc>
              <a:buChar char="•"/>
            </a:pPr>
            <a:r>
              <a:rPr lang="en-IN" sz="2000" dirty="0">
                <a:latin typeface="Aptos Slab" panose="020B0004020202020204" pitchFamily="34" charset="0"/>
              </a:rPr>
              <a:t>All structures diverge slightly at a disordered loop.</a:t>
            </a:r>
          </a:p>
          <a:p>
            <a:pPr marL="285750" lvl="0" indent="-285750">
              <a:lnSpc>
                <a:spcPct val="80000"/>
              </a:lnSpc>
              <a:buChar char="•"/>
            </a:pPr>
            <a:r>
              <a:rPr lang="en-IN" sz="2000" dirty="0">
                <a:latin typeface="Aptos Slab" panose="020B0004020202020204" pitchFamily="34" charset="0"/>
              </a:rPr>
              <a:t>Structure 2 has an extended set of alpha helices that are clearly unnecessary for binding.</a:t>
            </a:r>
          </a:p>
          <a:p>
            <a:pPr marL="285750" lvl="0" indent="-285750">
              <a:lnSpc>
                <a:spcPct val="80000"/>
              </a:lnSpc>
              <a:buChar char="•"/>
            </a:pPr>
            <a:r>
              <a:rPr lang="en-IN" sz="2000" dirty="0">
                <a:latin typeface="Aptos Slab" panose="020B0004020202020204" pitchFamily="34" charset="0"/>
              </a:rPr>
              <a:t> The high degree of similarity between the structures suggest that a technique like inverse folding was used.</a:t>
            </a:r>
          </a:p>
          <a:p>
            <a:pPr marL="742950" lvl="1" indent="-285750">
              <a:lnSpc>
                <a:spcPct val="80000"/>
              </a:lnSpc>
              <a:buChar char="•"/>
            </a:pPr>
            <a:r>
              <a:rPr lang="en-IN" sz="1800" dirty="0">
                <a:latin typeface="Aptos Slab" panose="020B0004020202020204" pitchFamily="34" charset="0"/>
              </a:rPr>
              <a:t>Use a template structure while diverging significantly at the sequence level.</a:t>
            </a:r>
          </a:p>
          <a:p>
            <a:pPr marL="285750" indent="-285750">
              <a:lnSpc>
                <a:spcPct val="80000"/>
              </a:lnSpc>
              <a:buChar char="•"/>
            </a:pPr>
            <a:r>
              <a:rPr lang="en-IN" sz="2000" dirty="0">
                <a:latin typeface="Aptos Slab" panose="020B0004020202020204" pitchFamily="34" charset="0"/>
              </a:rPr>
              <a:t>Not a traditional “template” at the sequence level but evidence of structural template usage.</a:t>
            </a:r>
          </a:p>
        </p:txBody>
      </p:sp>
      <p:cxnSp>
        <p:nvCxnSpPr>
          <p:cNvPr id="12" name="Straight Arrow Connector 11">
            <a:extLst>
              <a:ext uri="{FF2B5EF4-FFF2-40B4-BE49-F238E27FC236}">
                <a16:creationId xmlns:a16="http://schemas.microsoft.com/office/drawing/2014/main" id="{60ACFEE2-83BB-7B50-0D26-95B1B474A960}"/>
              </a:ext>
            </a:extLst>
          </p:cNvPr>
          <p:cNvCxnSpPr/>
          <p:nvPr/>
        </p:nvCxnSpPr>
        <p:spPr>
          <a:xfrm>
            <a:off x="7237141" y="2475571"/>
            <a:ext cx="880947" cy="3679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26E9D89D-128C-9F53-1D69-85015E1E6A4C}"/>
              </a:ext>
            </a:extLst>
          </p:cNvPr>
          <p:cNvSpPr txBox="1"/>
          <p:nvPr/>
        </p:nvSpPr>
        <p:spPr>
          <a:xfrm>
            <a:off x="5934456" y="2106239"/>
            <a:ext cx="2761140" cy="369332"/>
          </a:xfrm>
          <a:prstGeom prst="rect">
            <a:avLst/>
          </a:prstGeom>
          <a:noFill/>
        </p:spPr>
        <p:txBody>
          <a:bodyPr wrap="none" rtlCol="0">
            <a:spAutoFit/>
          </a:bodyPr>
          <a:lstStyle/>
          <a:p>
            <a:r>
              <a:rPr lang="en-US" dirty="0"/>
              <a:t>All structures diverge here</a:t>
            </a:r>
            <a:endParaRPr lang="en-AU" dirty="0"/>
          </a:p>
        </p:txBody>
      </p:sp>
      <p:sp>
        <p:nvSpPr>
          <p:cNvPr id="14" name="TextBox 13">
            <a:extLst>
              <a:ext uri="{FF2B5EF4-FFF2-40B4-BE49-F238E27FC236}">
                <a16:creationId xmlns:a16="http://schemas.microsoft.com/office/drawing/2014/main" id="{AE094E27-69B0-B53F-471D-BD12A06545AD}"/>
              </a:ext>
            </a:extLst>
          </p:cNvPr>
          <p:cNvSpPr txBox="1"/>
          <p:nvPr/>
        </p:nvSpPr>
        <p:spPr>
          <a:xfrm>
            <a:off x="5621599" y="5766262"/>
            <a:ext cx="2544736" cy="369332"/>
          </a:xfrm>
          <a:prstGeom prst="rect">
            <a:avLst/>
          </a:prstGeom>
          <a:noFill/>
        </p:spPr>
        <p:txBody>
          <a:bodyPr wrap="none" rtlCol="0">
            <a:spAutoFit/>
          </a:bodyPr>
          <a:lstStyle/>
          <a:p>
            <a:r>
              <a:rPr lang="en-US" dirty="0"/>
              <a:t>Extension Alpha helices</a:t>
            </a:r>
            <a:endParaRPr lang="en-AU" dirty="0"/>
          </a:p>
        </p:txBody>
      </p:sp>
      <p:cxnSp>
        <p:nvCxnSpPr>
          <p:cNvPr id="15" name="Straight Arrow Connector 14">
            <a:extLst>
              <a:ext uri="{FF2B5EF4-FFF2-40B4-BE49-F238E27FC236}">
                <a16:creationId xmlns:a16="http://schemas.microsoft.com/office/drawing/2014/main" id="{6CA7484C-F0B6-7E75-F557-AABF789D0289}"/>
              </a:ext>
            </a:extLst>
          </p:cNvPr>
          <p:cNvCxnSpPr>
            <a:cxnSpLocks/>
          </p:cNvCxnSpPr>
          <p:nvPr/>
        </p:nvCxnSpPr>
        <p:spPr>
          <a:xfrm flipV="1">
            <a:off x="6854045" y="5468112"/>
            <a:ext cx="278275" cy="2649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29661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5887F-3949-0777-8636-912A7AC099F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8D29F38-E76A-6B37-34B3-83349E3CBD4F}"/>
              </a:ext>
            </a:extLst>
          </p:cNvPr>
          <p:cNvSpPr txBox="1">
            <a:spLocks/>
          </p:cNvSpPr>
          <p:nvPr/>
        </p:nvSpPr>
        <p:spPr>
          <a:xfrm>
            <a:off x="296333" y="-421919"/>
            <a:ext cx="10515600"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sz="4400" dirty="0" err="1">
                <a:latin typeface="Aptos Slab Black" panose="020B0004020202020204" pitchFamily="34" charset="0"/>
              </a:rPr>
              <a:t>Visualising</a:t>
            </a:r>
            <a:r>
              <a:rPr lang="en-US" sz="4400" dirty="0">
                <a:latin typeface="Aptos Slab Black" panose="020B0004020202020204" pitchFamily="34" charset="0"/>
              </a:rPr>
              <a:t> the embedding space</a:t>
            </a:r>
            <a:endParaRPr lang="en-AU" sz="4400" dirty="0">
              <a:latin typeface="Aptos Slab Black" panose="020B0004020202020204" pitchFamily="34" charset="0"/>
            </a:endParaRPr>
          </a:p>
        </p:txBody>
      </p:sp>
      <p:sp>
        <p:nvSpPr>
          <p:cNvPr id="10" name="Text Placeholder 3">
            <a:extLst>
              <a:ext uri="{FF2B5EF4-FFF2-40B4-BE49-F238E27FC236}">
                <a16:creationId xmlns:a16="http://schemas.microsoft.com/office/drawing/2014/main" id="{60D2ED26-0D43-C0AB-795E-F1694FC89DF3}"/>
              </a:ext>
            </a:extLst>
          </p:cNvPr>
          <p:cNvSpPr txBox="1">
            <a:spLocks noGrp="1"/>
          </p:cNvSpPr>
          <p:nvPr>
            <p:ph type="body" idx="2"/>
          </p:nvPr>
        </p:nvSpPr>
        <p:spPr>
          <a:xfrm>
            <a:off x="296333" y="1437071"/>
            <a:ext cx="4893500" cy="5056633"/>
          </a:xfrm>
        </p:spPr>
        <p:txBody>
          <a:bodyPr>
            <a:noAutofit/>
          </a:bodyPr>
          <a:lstStyle/>
          <a:p>
            <a:pPr marL="285750" lvl="0" indent="-285750">
              <a:lnSpc>
                <a:spcPct val="80000"/>
              </a:lnSpc>
              <a:buChar char="•"/>
            </a:pPr>
            <a:r>
              <a:rPr lang="en-IN" sz="2000" dirty="0">
                <a:latin typeface="Aptos Slab" panose="020B0004020202020204" pitchFamily="34" charset="0"/>
              </a:rPr>
              <a:t>PCA reduction of embeddings show that Denovo structures cluster strongly together.</a:t>
            </a:r>
          </a:p>
          <a:p>
            <a:pPr marL="285750" lvl="0" indent="-285750">
              <a:lnSpc>
                <a:spcPct val="80000"/>
              </a:lnSpc>
              <a:buChar char="•"/>
            </a:pPr>
            <a:r>
              <a:rPr lang="en-IN" sz="2000" dirty="0">
                <a:latin typeface="Aptos Slab" panose="020B0004020202020204" pitchFamily="34" charset="0"/>
              </a:rPr>
              <a:t>They inhabit a distinct area of the embedding space relative to the Template structures.</a:t>
            </a:r>
          </a:p>
          <a:p>
            <a:pPr marL="742950" lvl="1" indent="-285750">
              <a:lnSpc>
                <a:spcPct val="80000"/>
              </a:lnSpc>
              <a:buChar char="•"/>
            </a:pPr>
            <a:r>
              <a:rPr lang="en-IN" sz="1800" dirty="0">
                <a:latin typeface="Aptos Slab" panose="020B0004020202020204" pitchFamily="34" charset="0"/>
              </a:rPr>
              <a:t>The exceptions here are our prior </a:t>
            </a:r>
            <a:r>
              <a:rPr lang="en-IN" sz="1800" dirty="0" err="1">
                <a:latin typeface="Aptos Slab" panose="020B0004020202020204" pitchFamily="34" charset="0"/>
              </a:rPr>
              <a:t>ouliers</a:t>
            </a:r>
            <a:r>
              <a:rPr lang="en-IN" sz="1800" dirty="0">
                <a:latin typeface="Aptos Slab" panose="020B0004020202020204" pitchFamily="34" charset="0"/>
              </a:rPr>
              <a:t>.</a:t>
            </a:r>
          </a:p>
          <a:p>
            <a:pPr marL="285750" indent="-285750">
              <a:lnSpc>
                <a:spcPct val="80000"/>
              </a:lnSpc>
              <a:buChar char="•"/>
            </a:pPr>
            <a:r>
              <a:rPr lang="en-IN" sz="2000" dirty="0">
                <a:latin typeface="Aptos Slab" panose="020B0004020202020204" pitchFamily="34" charset="0"/>
              </a:rPr>
              <a:t>Template structures split into two distinct clades.</a:t>
            </a:r>
          </a:p>
          <a:p>
            <a:pPr marL="285750" indent="-285750">
              <a:lnSpc>
                <a:spcPct val="80000"/>
              </a:lnSpc>
              <a:buChar char="•"/>
            </a:pPr>
            <a:r>
              <a:rPr lang="en-IN" sz="2000" dirty="0">
                <a:latin typeface="Aptos Slab" panose="020B0004020202020204" pitchFamily="34" charset="0"/>
              </a:rPr>
              <a:t>Indicates multiple templates may have been used.</a:t>
            </a:r>
          </a:p>
          <a:p>
            <a:pPr marL="285750" indent="-285750">
              <a:lnSpc>
                <a:spcPct val="80000"/>
              </a:lnSpc>
              <a:buChar char="•"/>
            </a:pPr>
            <a:r>
              <a:rPr lang="en-IN" sz="2000" dirty="0">
                <a:latin typeface="Aptos Slab" panose="020B0004020202020204" pitchFamily="34" charset="0"/>
              </a:rPr>
              <a:t>Unknowns appear predominantly </a:t>
            </a:r>
            <a:r>
              <a:rPr lang="en-IN" sz="2000" dirty="0" err="1">
                <a:latin typeface="Aptos Slab" panose="020B0004020202020204" pitchFamily="34" charset="0"/>
              </a:rPr>
              <a:t>denovo</a:t>
            </a:r>
            <a:r>
              <a:rPr lang="en-IN" sz="2000" dirty="0">
                <a:latin typeface="Aptos Slab" panose="020B0004020202020204" pitchFamily="34" charset="0"/>
              </a:rPr>
              <a:t>. </a:t>
            </a:r>
          </a:p>
        </p:txBody>
      </p:sp>
      <p:pic>
        <p:nvPicPr>
          <p:cNvPr id="2" name="Picture 1" descr="Denovo&#10;&#10;AI-generated content may be incorrect.">
            <a:extLst>
              <a:ext uri="{FF2B5EF4-FFF2-40B4-BE49-F238E27FC236}">
                <a16:creationId xmlns:a16="http://schemas.microsoft.com/office/drawing/2014/main" id="{3E121DAC-4815-CBE8-C70D-467E3FB9FEC8}"/>
              </a:ext>
            </a:extLst>
          </p:cNvPr>
          <p:cNvPicPr>
            <a:picLocks noChangeAspect="1"/>
          </p:cNvPicPr>
          <p:nvPr/>
        </p:nvPicPr>
        <p:blipFill>
          <a:blip r:embed="rId2"/>
          <a:stretch>
            <a:fillRect/>
          </a:stretch>
        </p:blipFill>
        <p:spPr>
          <a:xfrm>
            <a:off x="5639695" y="1170432"/>
            <a:ext cx="6444108" cy="4837181"/>
          </a:xfrm>
          <a:prstGeom prst="rect">
            <a:avLst/>
          </a:prstGeom>
        </p:spPr>
      </p:pic>
    </p:spTree>
    <p:extLst>
      <p:ext uri="{BB962C8B-B14F-4D97-AF65-F5344CB8AC3E}">
        <p14:creationId xmlns:p14="http://schemas.microsoft.com/office/powerpoint/2010/main" val="834023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D1261-17B7-3BEE-CAB2-D3F966F0C348}"/>
              </a:ext>
            </a:extLst>
          </p:cNvPr>
          <p:cNvSpPr>
            <a:spLocks noGrp="1"/>
          </p:cNvSpPr>
          <p:nvPr>
            <p:ph type="title"/>
          </p:nvPr>
        </p:nvSpPr>
        <p:spPr>
          <a:xfrm>
            <a:off x="296333" y="94192"/>
            <a:ext cx="10515600" cy="1325563"/>
          </a:xfrm>
        </p:spPr>
        <p:txBody>
          <a:bodyPr/>
          <a:lstStyle/>
          <a:p>
            <a:r>
              <a:rPr lang="en-US" dirty="0" err="1">
                <a:latin typeface="Aptos Slab Black" panose="020B0004020202020204" pitchFamily="34" charset="0"/>
              </a:rPr>
              <a:t>Tanglegrams</a:t>
            </a:r>
            <a:endParaRPr lang="en-AU" dirty="0">
              <a:latin typeface="Aptos Slab Black" panose="020B0004020202020204" pitchFamily="34" charset="0"/>
            </a:endParaRPr>
          </a:p>
        </p:txBody>
      </p:sp>
      <p:pic>
        <p:nvPicPr>
          <p:cNvPr id="9" name="Picture 8">
            <a:extLst>
              <a:ext uri="{FF2B5EF4-FFF2-40B4-BE49-F238E27FC236}">
                <a16:creationId xmlns:a16="http://schemas.microsoft.com/office/drawing/2014/main" id="{1CDDA741-A264-1337-6B28-1189E2D499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333" y="1419755"/>
            <a:ext cx="3729718" cy="4351338"/>
          </a:xfrm>
          <a:prstGeom prst="rect">
            <a:avLst/>
          </a:prstGeom>
        </p:spPr>
      </p:pic>
      <p:pic>
        <p:nvPicPr>
          <p:cNvPr id="13" name="Picture 12" descr="The image depicts a complex and extensive tree diagram, likely representing a hierarchical structure of various entities or categories, possibly in a data visualization format like a dendrogram or a phylogenetic tree.&#10;&#10;AI-generated content may be incorrect.">
            <a:extLst>
              <a:ext uri="{FF2B5EF4-FFF2-40B4-BE49-F238E27FC236}">
                <a16:creationId xmlns:a16="http://schemas.microsoft.com/office/drawing/2014/main" id="{C97756ED-9DB2-1CE2-CFAC-C43D4CAA6E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73789" y="1419754"/>
            <a:ext cx="3729719" cy="4351339"/>
          </a:xfrm>
          <a:prstGeom prst="rect">
            <a:avLst/>
          </a:prstGeom>
        </p:spPr>
      </p:pic>
      <p:pic>
        <p:nvPicPr>
          <p:cNvPr id="15" name="Picture 14" descr="The image depicts a complex network of interconnected branches, each labeled with a unique combination of colorful, fantastical names, suggesting a visual representation of a k-mer tree or a phylogenetic tree.&#10;&#10;AI-generated content may be incorrect.">
            <a:extLst>
              <a:ext uri="{FF2B5EF4-FFF2-40B4-BE49-F238E27FC236}">
                <a16:creationId xmlns:a16="http://schemas.microsoft.com/office/drawing/2014/main" id="{5C0D1793-ADC2-FE00-4449-1256AD1368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03507" y="1419754"/>
            <a:ext cx="4017095" cy="4686611"/>
          </a:xfrm>
          <a:prstGeom prst="rect">
            <a:avLst/>
          </a:prstGeom>
        </p:spPr>
      </p:pic>
    </p:spTree>
    <p:extLst>
      <p:ext uri="{BB962C8B-B14F-4D97-AF65-F5344CB8AC3E}">
        <p14:creationId xmlns:p14="http://schemas.microsoft.com/office/powerpoint/2010/main" val="14835821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49844-D2D2-064C-291E-23AE8591FFCC}"/>
              </a:ext>
            </a:extLst>
          </p:cNvPr>
          <p:cNvSpPr>
            <a:spLocks noGrp="1"/>
          </p:cNvSpPr>
          <p:nvPr>
            <p:ph type="title"/>
          </p:nvPr>
        </p:nvSpPr>
        <p:spPr>
          <a:xfrm>
            <a:off x="188976" y="18255"/>
            <a:ext cx="11835384" cy="1325563"/>
          </a:xfrm>
        </p:spPr>
        <p:txBody>
          <a:bodyPr/>
          <a:lstStyle/>
          <a:p>
            <a:r>
              <a:rPr lang="en-GB" dirty="0">
                <a:latin typeface="Aptos Slab Black" panose="020F0502020204030204" pitchFamily="34" charset="0"/>
              </a:rPr>
              <a:t>Alignment-free vs structural vs PLM tree comparison</a:t>
            </a:r>
            <a:endParaRPr lang="en-AU" dirty="0">
              <a:latin typeface="Aptos Slab Black" panose="020F0502020204030204" pitchFamily="34" charset="0"/>
            </a:endParaRPr>
          </a:p>
        </p:txBody>
      </p:sp>
      <p:sp>
        <p:nvSpPr>
          <p:cNvPr id="3" name="Content Placeholder 2">
            <a:extLst>
              <a:ext uri="{FF2B5EF4-FFF2-40B4-BE49-F238E27FC236}">
                <a16:creationId xmlns:a16="http://schemas.microsoft.com/office/drawing/2014/main" id="{16A26BA8-137E-F41A-5693-55B0D5CB3328}"/>
              </a:ext>
            </a:extLst>
          </p:cNvPr>
          <p:cNvSpPr>
            <a:spLocks noGrp="1"/>
          </p:cNvSpPr>
          <p:nvPr>
            <p:ph idx="1"/>
          </p:nvPr>
        </p:nvSpPr>
        <p:spPr>
          <a:xfrm>
            <a:off x="188976" y="1343818"/>
            <a:ext cx="11463528" cy="1621797"/>
          </a:xfrm>
        </p:spPr>
        <p:txBody>
          <a:bodyPr>
            <a:normAutofit fontScale="62500" lnSpcReduction="20000"/>
          </a:bodyPr>
          <a:lstStyle/>
          <a:p>
            <a:r>
              <a:rPr lang="en-AU" dirty="0">
                <a:latin typeface="Aptos Slab" panose="020B0004020202020204" pitchFamily="34" charset="0"/>
              </a:rPr>
              <a:t>Structural, alignment-free, and PLM trees were each cut into k = 10 clusters </a:t>
            </a:r>
          </a:p>
          <a:p>
            <a:r>
              <a:rPr lang="en-AU" dirty="0">
                <a:latin typeface="Aptos Slab" panose="020B0004020202020204" pitchFamily="34" charset="0"/>
              </a:rPr>
              <a:t>Cluster overlap was compared across representations</a:t>
            </a:r>
          </a:p>
          <a:p>
            <a:r>
              <a:rPr lang="en-GB" dirty="0">
                <a:latin typeface="Aptos Slab" panose="020B0004020202020204" pitchFamily="34" charset="0"/>
              </a:rPr>
              <a:t>Alignment-free clustering collapsed most binders into one group: 84/115</a:t>
            </a:r>
          </a:p>
          <a:p>
            <a:r>
              <a:rPr lang="en-GB" dirty="0">
                <a:latin typeface="Aptos Slab" panose="020B0004020202020204" pitchFamily="34" charset="0"/>
              </a:rPr>
              <a:t>Structural clustering was more balanced: largest cluster 21/115</a:t>
            </a:r>
          </a:p>
          <a:p>
            <a:r>
              <a:rPr lang="en-GB" dirty="0">
                <a:latin typeface="Aptos Slab" panose="020B0004020202020204" pitchFamily="34" charset="0"/>
              </a:rPr>
              <a:t>PLM embeddings recover more structure-like organisation than k-</a:t>
            </a:r>
            <a:r>
              <a:rPr lang="en-GB" dirty="0" err="1">
                <a:latin typeface="Aptos Slab" panose="020B0004020202020204" pitchFamily="34" charset="0"/>
              </a:rPr>
              <a:t>mer</a:t>
            </a:r>
            <a:r>
              <a:rPr lang="en-GB" dirty="0">
                <a:latin typeface="Aptos Slab" panose="020B0004020202020204" pitchFamily="34" charset="0"/>
              </a:rPr>
              <a:t> sequence composition</a:t>
            </a:r>
          </a:p>
        </p:txBody>
      </p:sp>
      <p:pic>
        <p:nvPicPr>
          <p:cNvPr id="11" name="Graphic 10">
            <a:extLst>
              <a:ext uri="{FF2B5EF4-FFF2-40B4-BE49-F238E27FC236}">
                <a16:creationId xmlns:a16="http://schemas.microsoft.com/office/drawing/2014/main" id="{19C39CEE-195E-1B20-CE4C-6B66D1E095B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14681" y="2903876"/>
            <a:ext cx="10783973" cy="3954124"/>
          </a:xfrm>
          <a:prstGeom prst="rect">
            <a:avLst/>
          </a:prstGeom>
        </p:spPr>
      </p:pic>
    </p:spTree>
    <p:extLst>
      <p:ext uri="{BB962C8B-B14F-4D97-AF65-F5344CB8AC3E}">
        <p14:creationId xmlns:p14="http://schemas.microsoft.com/office/powerpoint/2010/main" val="42110701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B1C46-5318-7DB2-38DB-E7F1BFAB963F}"/>
              </a:ext>
            </a:extLst>
          </p:cNvPr>
          <p:cNvSpPr>
            <a:spLocks noGrp="1"/>
          </p:cNvSpPr>
          <p:nvPr>
            <p:ph type="title"/>
          </p:nvPr>
        </p:nvSpPr>
        <p:spPr/>
        <p:txBody>
          <a:bodyPr/>
          <a:lstStyle/>
          <a:p>
            <a:r>
              <a:rPr lang="en-US" dirty="0" err="1">
                <a:latin typeface="Aptos Slab Black" panose="020B0004020202020204" pitchFamily="34" charset="0"/>
              </a:rPr>
              <a:t>Thankkkksssss</a:t>
            </a:r>
            <a:endParaRPr lang="en-AU" dirty="0">
              <a:latin typeface="Aptos Slab Black" panose="020B0004020202020204" pitchFamily="34" charset="0"/>
            </a:endParaRPr>
          </a:p>
        </p:txBody>
      </p:sp>
      <p:sp>
        <p:nvSpPr>
          <p:cNvPr id="3" name="Content Placeholder 2">
            <a:extLst>
              <a:ext uri="{FF2B5EF4-FFF2-40B4-BE49-F238E27FC236}">
                <a16:creationId xmlns:a16="http://schemas.microsoft.com/office/drawing/2014/main" id="{6F9CAE2C-CFF9-FFF2-0575-7BDFCF2BCEB6}"/>
              </a:ext>
            </a:extLst>
          </p:cNvPr>
          <p:cNvSpPr>
            <a:spLocks noGrp="1"/>
          </p:cNvSpPr>
          <p:nvPr>
            <p:ph idx="1"/>
          </p:nvPr>
        </p:nvSpPr>
        <p:spPr>
          <a:xfrm>
            <a:off x="10055352" y="3934099"/>
            <a:ext cx="1813560" cy="515239"/>
          </a:xfrm>
        </p:spPr>
        <p:txBody>
          <a:bodyPr>
            <a:normAutofit/>
          </a:bodyPr>
          <a:lstStyle/>
          <a:p>
            <a:pPr marL="0" indent="0">
              <a:buNone/>
            </a:pPr>
            <a:r>
              <a:rPr lang="en-US" dirty="0">
                <a:latin typeface="Aptos Slab" panose="020B0004020202020204" pitchFamily="34" charset="0"/>
              </a:rPr>
              <a:t>GitHub</a:t>
            </a:r>
            <a:endParaRPr lang="en-AU" dirty="0">
              <a:latin typeface="Aptos Slab" panose="020B0004020202020204" pitchFamily="34" charset="0"/>
            </a:endParaRPr>
          </a:p>
        </p:txBody>
      </p:sp>
      <p:pic>
        <p:nvPicPr>
          <p:cNvPr id="5" name="Picture 4" descr="The image is a QR code with a black background and a white square pattern.&#10;&#10;AI-generated content may be incorrect.">
            <a:extLst>
              <a:ext uri="{FF2B5EF4-FFF2-40B4-BE49-F238E27FC236}">
                <a16:creationId xmlns:a16="http://schemas.microsoft.com/office/drawing/2014/main" id="{2F2691E2-AF26-A190-610C-60258DD5DC10}"/>
              </a:ext>
            </a:extLst>
          </p:cNvPr>
          <p:cNvPicPr>
            <a:picLocks noChangeAspect="1"/>
          </p:cNvPicPr>
          <p:nvPr/>
        </p:nvPicPr>
        <p:blipFill>
          <a:blip r:embed="rId2"/>
          <a:stretch>
            <a:fillRect/>
          </a:stretch>
        </p:blipFill>
        <p:spPr>
          <a:xfrm>
            <a:off x="9904954" y="4449338"/>
            <a:ext cx="1727626" cy="1727626"/>
          </a:xfrm>
          <a:prstGeom prst="rect">
            <a:avLst/>
          </a:prstGeom>
        </p:spPr>
      </p:pic>
      <p:pic>
        <p:nvPicPr>
          <p:cNvPr id="7" name="Picture 6" descr="The image shows a group of people standing together, some holding books and others seated in a room with a large window, wooden benches, and a high ceiling with lighting fixtures.&#10;&#10;AI-generated content may be incorrect.">
            <a:extLst>
              <a:ext uri="{FF2B5EF4-FFF2-40B4-BE49-F238E27FC236}">
                <a16:creationId xmlns:a16="http://schemas.microsoft.com/office/drawing/2014/main" id="{3C0286CC-D509-A3AB-71D5-F1C37E160835}"/>
              </a:ext>
            </a:extLst>
          </p:cNvPr>
          <p:cNvPicPr>
            <a:picLocks noChangeAspect="1"/>
          </p:cNvPicPr>
          <p:nvPr/>
        </p:nvPicPr>
        <p:blipFill>
          <a:blip r:embed="rId3"/>
          <a:stretch>
            <a:fillRect/>
          </a:stretch>
        </p:blipFill>
        <p:spPr>
          <a:xfrm>
            <a:off x="2514600" y="1690688"/>
            <a:ext cx="6373368" cy="4248912"/>
          </a:xfrm>
          <a:prstGeom prst="rect">
            <a:avLst/>
          </a:prstGeom>
        </p:spPr>
      </p:pic>
    </p:spTree>
    <p:extLst>
      <p:ext uri="{BB962C8B-B14F-4D97-AF65-F5344CB8AC3E}">
        <p14:creationId xmlns:p14="http://schemas.microsoft.com/office/powerpoint/2010/main" val="27778691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236</TotalTime>
  <Words>772</Words>
  <Application>Microsoft Office PowerPoint</Application>
  <PresentationFormat>Widescreen</PresentationFormat>
  <Paragraphs>97</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Aptos Slab</vt:lpstr>
      <vt:lpstr>Aptos Slab Black</vt:lpstr>
      <vt:lpstr>Arial</vt:lpstr>
      <vt:lpstr>Office Theme</vt:lpstr>
      <vt:lpstr>Dissecting Protein Design Methods for Nipah Glycoprotein Binders </vt:lpstr>
      <vt:lpstr>Secondary structures of binder proteins</vt:lpstr>
      <vt:lpstr>Methods</vt:lpstr>
      <vt:lpstr>Trees</vt:lpstr>
      <vt:lpstr>Trees</vt:lpstr>
      <vt:lpstr>Trees</vt:lpstr>
      <vt:lpstr>MMSeqs Sequences</vt:lpstr>
      <vt:lpstr>Clustering of Nipah binding sequence</vt:lpstr>
      <vt:lpstr>Cluster identity by sequence origin</vt:lpstr>
      <vt:lpstr>PowerPoint Presentation</vt:lpstr>
      <vt:lpstr>PowerPoint Presentation</vt:lpstr>
      <vt:lpstr>Tanglegrams</vt:lpstr>
      <vt:lpstr>Alignment-free vs structural vs PLM tree comparison</vt:lpstr>
      <vt:lpstr>Thankkkksssss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Haley Stone</dc:creator>
  <cp:lastModifiedBy>Haley Stone</cp:lastModifiedBy>
  <cp:revision>7</cp:revision>
  <dcterms:created xsi:type="dcterms:W3CDTF">2026-06-12T09:05:39Z</dcterms:created>
  <dcterms:modified xsi:type="dcterms:W3CDTF">2026-06-12T13:02:35Z</dcterms:modified>
</cp:coreProperties>
</file>